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406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 Neue"/>
              </a:rPr>
              <a:t>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7379"/>
                </a:solidFill>
                <a:latin typeface="Helvetica Neue"/>
              </a:rPr>
              <a:t>tez.taxi · AI workshop</a:t>
            </a:r>
            <a:r>
              <a:rPr sz="1000">
                <a:solidFill>
                  <a:srgbClr val="6E7379"/>
                </a:solidFill>
                <a:latin typeface="Helvetica Neue"/>
              </a:rPr>
              <a:t>    1 / 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6583680" cy="146304"/>
          </a:xfrm>
          <a:prstGeom prst="roundRect">
            <a:avLst>
              <a:gd name="adj" fmla="val 50000"/>
            </a:avLst>
          </a:prstGeom>
          <a:solidFill>
            <a:srgbClr val="FFC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000" b="1">
                <a:solidFill>
                  <a:srgbClr val="0F0F0F"/>
                </a:solidFill>
                <a:latin typeface="Helvetica Neue"/>
              </a:rPr>
              <a:t>AI-инструменты
в ежедневной работе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6E7379"/>
                </a:solidFill>
                <a:latin typeface="Helvetica Neue"/>
              </a:rPr>
              <a:t>Как устроена работа с Claude Code: правила проекта, skills, агенты — и одна фича, доведённая за вечер от идеи до двух pull request.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406FE5"/>
                </a:solidFill>
                <a:latin typeface="Helvetica Neue"/>
              </a:rPr>
              <a:t>Ruslan · Tez Taxi mobile · 23.07.2026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1001268" cy="384048"/>
          </a:xfrm>
          <a:prstGeom prst="roundRect">
            <a:avLst>
              <a:gd name="adj" fmla="val 50000"/>
            </a:avLst>
          </a:prstGeom>
          <a:solidFill>
            <a:srgbClr val="406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 Neue"/>
              </a:rPr>
              <a:t>зачем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7379"/>
                </a:solidFill>
                <a:latin typeface="Helvetica Neue"/>
              </a:rPr>
              <a:t>tez.taxi · AI workshop</a:t>
            </a:r>
            <a:r>
              <a:rPr sz="1000">
                <a:solidFill>
                  <a:srgbClr val="6E7379"/>
                </a:solidFill>
                <a:latin typeface="Helvetica Neue"/>
              </a:rPr>
              <a:t>    2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0F0F"/>
                </a:solidFill>
                <a:latin typeface="Helvetica Neue"/>
              </a:rPr>
              <a:t>Это не только про разработку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700">
                <a:solidFill>
                  <a:srgbClr val="0F0F0F"/>
                </a:solidFill>
                <a:latin typeface="Helvetica Neue"/>
              </a:rPr>
              <a:t>AI-агент — не автодополнение кода. Это исполнитель, которому даёшь задачу, а он сам работает с терминалом, файлами и сервисами: собирает приложение, воспроизводит баг, разбирает логи, готовит merge request.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20040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64992"/>
            <a:ext cx="3063240" cy="1956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406FE5"/>
                </a:solidFill>
                <a:latin typeface="Helvetica Neue"/>
              </a:rPr>
              <a:t>Разработчику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50">
                <a:solidFill>
                  <a:srgbClr val="0F0F0F"/>
                </a:solidFill>
                <a:latin typeface="Helvetica Neue"/>
              </a:rPr>
              <a:t>merge request и pipeline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50">
                <a:solidFill>
                  <a:srgbClr val="0F0F0F"/>
                </a:solidFill>
                <a:latin typeface="Helvetica Neue"/>
              </a:rPr>
              <a:t>миграции и рефакторинг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50">
                <a:solidFill>
                  <a:srgbClr val="0F0F0F"/>
                </a:solidFill>
                <a:latin typeface="Helvetica Neue"/>
              </a:rPr>
              <a:t>разбор чужого кода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320040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3364992"/>
            <a:ext cx="3063240" cy="1956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39CAEA"/>
                </a:solidFill>
                <a:latin typeface="Helvetica Neue"/>
              </a:rPr>
              <a:t>QA-инженеру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50">
                <a:solidFill>
                  <a:srgbClr val="0F0F0F"/>
                </a:solidFill>
                <a:latin typeface="Helvetica Neue"/>
              </a:rPr>
              <a:t>воспроизведение багов на устройстве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50">
                <a:solidFill>
                  <a:srgbClr val="0F0F0F"/>
                </a:solidFill>
                <a:latin typeface="Helvetica Neue"/>
              </a:rPr>
              <a:t>разбор логов сессии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50">
                <a:solidFill>
                  <a:srgbClr val="0F0F0F"/>
                </a:solidFill>
                <a:latin typeface="Helvetica Neue"/>
              </a:rPr>
              <a:t>фейковые заказы на тестовом стенде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200400"/>
            <a:ext cx="3520440" cy="2286000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3364992"/>
            <a:ext cx="3063240" cy="1956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441CB7"/>
                </a:solidFill>
                <a:latin typeface="Helvetica Neue"/>
              </a:rPr>
              <a:t>Команде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50">
                <a:solidFill>
                  <a:srgbClr val="0F0F0F"/>
                </a:solidFill>
                <a:latin typeface="Helvetica Neue"/>
              </a:rPr>
              <a:t>единые правила в репозитории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50">
                <a:solidFill>
                  <a:srgbClr val="0F0F0F"/>
                </a:solidFill>
                <a:latin typeface="Helvetica Neue"/>
              </a:rPr>
              <a:t>общая память о решениях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50">
                <a:solidFill>
                  <a:srgbClr val="0F0F0F"/>
                </a:solidFill>
                <a:latin typeface="Helvetica Neue"/>
              </a:rPr>
              <a:t>меньше устных договорённостей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1124712" cy="384048"/>
          </a:xfrm>
          <a:prstGeom prst="roundRect">
            <a:avLst>
              <a:gd name="adj" fmla="val 50000"/>
            </a:avLst>
          </a:prstGeom>
          <a:solidFill>
            <a:srgbClr val="406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 Neue"/>
              </a:rPr>
              <a:t>основы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7379"/>
                </a:solidFill>
                <a:latin typeface="Helvetica Neue"/>
              </a:rPr>
              <a:t>tez.taxi · AI workshop</a:t>
            </a:r>
            <a:r>
              <a:rPr sz="1000">
                <a:solidFill>
                  <a:srgbClr val="6E7379"/>
                </a:solidFill>
                <a:latin typeface="Helvetica Neue"/>
              </a:rPr>
              <a:t>    3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0F0F"/>
                </a:solidFill>
                <a:latin typeface="Helvetica Neue"/>
              </a:rPr>
              <a:t>Context window: рабочий стол агента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700">
                <a:solidFill>
                  <a:srgbClr val="0F0F0F"/>
                </a:solidFill>
                <a:latin typeface="Helvetica Neue"/>
              </a:rPr>
              <a:t>У модели нет постоянной памяти. Есть context window — примерно 200 тысяч tokens (условно, сотни страниц текста). Туда помещается всё, что агент «видит»: инструкции проекта, история диалога, вывод каждой команды.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700">
                <a:solidFill>
                  <a:srgbClr val="0F0F0F"/>
                </a:solidFill>
                <a:latin typeface="Helvetica Neue"/>
              </a:rPr>
              <a:t>Чего нет в окне — того для агента не существует. Когда окно переполняется, старая часть сжимается в краткий пересказ, и детали теряются.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700">
                <a:solidFill>
                  <a:srgbClr val="0F0F0F"/>
                </a:solidFill>
                <a:latin typeface="Helvetica Neue"/>
              </a:rPr>
              <a:t>Вывод: объём окна — это бюджет. Его тратят на задачу, а не на лишний вывод команд и случайные файлы.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1124712" cy="384048"/>
          </a:xfrm>
          <a:prstGeom prst="roundRect">
            <a:avLst>
              <a:gd name="adj" fmla="val 50000"/>
            </a:avLst>
          </a:prstGeom>
          <a:solidFill>
            <a:srgbClr val="406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 Neue"/>
              </a:rPr>
              <a:t>основы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7379"/>
                </a:solidFill>
                <a:latin typeface="Helvetica Neue"/>
              </a:rPr>
              <a:t>tez.taxi · AI workshop</a:t>
            </a:r>
            <a:r>
              <a:rPr sz="1000">
                <a:solidFill>
                  <a:srgbClr val="6E7379"/>
                </a:solidFill>
                <a:latin typeface="Helvetica Neue"/>
              </a:rPr>
              <a:t>    4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0F0F"/>
                </a:solidFill>
                <a:latin typeface="Helvetica Neue"/>
              </a:rPr>
              <a:t>Правила проекта: CLAUDE.md и AGENTS.md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600">
                <a:solidFill>
                  <a:srgbClr val="0F0F0F"/>
                </a:solidFill>
                <a:latin typeface="Helvetica Neue"/>
              </a:rPr>
              <a:t>Это файлы в репозитории, которые агент читает в начале каждой сессии — свод правил проекта. У нас он один для двух агентов: Claude Code и Codex.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788920"/>
          <a:ext cx="10881360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7863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7379"/>
                          </a:solidFill>
                          <a:latin typeface="Helvetica Neue"/>
                        </a:rPr>
                        <a:t>что лежит</a:t>
                      </a:r>
                    </a:p>
                  </a:txBody>
                  <a:tcPr anchor="t" marL="128016" marR="128016" marT="73152" marB="73152">
                    <a:solidFill>
                      <a:srgbClr val="F0F1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7379"/>
                          </a:solidFill>
                          <a:latin typeface="Helvetica Neue"/>
                        </a:rPr>
                        <a:t>пример</a:t>
                      </a:r>
                    </a:p>
                  </a:txBody>
                  <a:tcPr anchor="t" marL="128016" marR="128016" marT="73152" marB="73152">
                    <a:solidFill>
                      <a:srgbClr val="F0F1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06FE5"/>
                          </a:solidFill>
                          <a:latin typeface="Helvetica Neue"/>
                        </a:rPr>
                        <a:t>toolchain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F0F0F"/>
                          </a:solidFill>
                          <a:latin typeface="Helvetica Neue"/>
                        </a:rPr>
                        <a:t>какие версии Flutter и Java, как собирать, какие команды запускать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06FE5"/>
                          </a:solidFill>
                          <a:latin typeface="Helvetica Neue"/>
                        </a:rPr>
                        <a:t>запреты</a:t>
                      </a:r>
                    </a:p>
                  </a:txBody>
                  <a:tcPr anchor="t" marL="128016" marR="128016" marT="73152" marB="73152">
                    <a:solidFill>
                      <a:srgbClr val="F6F6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F0F0F"/>
                          </a:solidFill>
                          <a:latin typeface="Helvetica Neue"/>
                        </a:rPr>
                        <a:t>например: commit и push только по явной команде человека</a:t>
                      </a:r>
                    </a:p>
                  </a:txBody>
                  <a:tcPr anchor="t" marL="128016" marR="128016" marT="73152" marB="73152">
                    <a:solidFill>
                      <a:srgbClr val="F6F6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06FE5"/>
                          </a:solidFill>
                          <a:latin typeface="Helvetica Neue"/>
                        </a:rPr>
                        <a:t>дорогие ошибки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F0F0F"/>
                          </a:solidFill>
                          <a:latin typeface="Helvetica Neue"/>
                        </a:rPr>
                        <a:t>проверка ключей карт перед сборкой — после реального инцидента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06FE5"/>
                          </a:solidFill>
                          <a:latin typeface="Helvetica Neue"/>
                        </a:rPr>
                        <a:t>навигация</a:t>
                      </a:r>
                    </a:p>
                  </a:txBody>
                  <a:tcPr anchor="t" marL="128016" marR="128016" marT="73152" marB="73152">
                    <a:solidFill>
                      <a:srgbClr val="F6F6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F0F0F"/>
                          </a:solidFill>
                          <a:latin typeface="Helvetica Neue"/>
                        </a:rPr>
                        <a:t>ссылки на документы: «для задач про UI читай DESIGN.md»</a:t>
                      </a:r>
                    </a:p>
                  </a:txBody>
                  <a:tcPr anchor="t" marL="128016" marR="128016" marT="73152" marB="73152"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25780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500">
                <a:solidFill>
                  <a:srgbClr val="0F0F0F"/>
                </a:solidFill>
                <a:latin typeface="Helvetica Neue"/>
              </a:rPr>
              <a:t>Принцип: в постоянно загружаемом файле — только правила и ссылки. Большие документы агент открывает сам, когда задача их касается.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1124712" cy="384048"/>
          </a:xfrm>
          <a:prstGeom prst="roundRect">
            <a:avLst>
              <a:gd name="adj" fmla="val 50000"/>
            </a:avLst>
          </a:prstGeom>
          <a:solidFill>
            <a:srgbClr val="406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 Neue"/>
              </a:rPr>
              <a:t>основы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7379"/>
                </a:solidFill>
                <a:latin typeface="Helvetica Neue"/>
              </a:rPr>
              <a:t>tez.taxi · AI workshop</a:t>
            </a:r>
            <a:r>
              <a:rPr sz="1000">
                <a:solidFill>
                  <a:srgbClr val="6E7379"/>
                </a:solidFill>
                <a:latin typeface="Helvetica Neue"/>
              </a:rPr>
              <a:t>    5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0F0F"/>
                </a:solidFill>
                <a:latin typeface="Helvetica Neue"/>
              </a:rPr>
              <a:t>Память между сессиями — обычные файлы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80"/>
          <a:ext cx="10881360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7863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7379"/>
                          </a:solidFill>
                          <a:latin typeface="Helvetica Neue"/>
                        </a:rPr>
                        <a:t>файл</a:t>
                      </a:r>
                    </a:p>
                  </a:txBody>
                  <a:tcPr anchor="t" marL="128016" marR="128016" marT="73152" marB="73152">
                    <a:solidFill>
                      <a:srgbClr val="F0F1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7379"/>
                          </a:solidFill>
                          <a:latin typeface="Helvetica Neue"/>
                        </a:rPr>
                        <a:t>роль</a:t>
                      </a:r>
                    </a:p>
                  </a:txBody>
                  <a:tcPr anchor="t" marL="128016" marR="128016" marT="73152" marB="73152">
                    <a:solidFill>
                      <a:srgbClr val="F0F1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06FE5"/>
                          </a:solidFill>
                          <a:latin typeface="Helvetica Neue"/>
                        </a:rPr>
                        <a:t>WORKLOG.md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F0F0F"/>
                          </a:solidFill>
                          <a:latin typeface="Helvetica Neue"/>
                        </a:rPr>
                        <a:t>журнал: что сделано за сессию, что осталось, что важно знать следующему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06FE5"/>
                          </a:solidFill>
                          <a:latin typeface="Helvetica Neue"/>
                        </a:rPr>
                        <a:t>HANDOFF-*.md</a:t>
                      </a:r>
                    </a:p>
                  </a:txBody>
                  <a:tcPr anchor="t" marL="128016" marR="128016" marT="73152" marB="73152">
                    <a:solidFill>
                      <a:srgbClr val="F6F6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F0F0F"/>
                          </a:solidFill>
                          <a:latin typeface="Helvetica Neue"/>
                        </a:rPr>
                        <a:t>передача незаконченной задачи — как передача смены: выводы, а не переписка</a:t>
                      </a:r>
                    </a:p>
                  </a:txBody>
                  <a:tcPr anchor="t" marL="128016" marR="128016" marT="73152" marB="73152">
                    <a:solidFill>
                      <a:srgbClr val="F6F6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06FE5"/>
                          </a:solidFill>
                          <a:latin typeface="Helvetica Neue"/>
                        </a:rPr>
                        <a:t>memory/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F0F0F"/>
                          </a:solidFill>
                          <a:latin typeface="Helvetica Neue"/>
                        </a:rPr>
                        <a:t>проверенные факты, по файлу на каждый: «в CI авторизация настроена так-то»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06FE5"/>
                          </a:solidFill>
                          <a:latin typeface="Helvetica Neue"/>
                        </a:rPr>
                        <a:t>docs/adr/</a:t>
                      </a:r>
                    </a:p>
                  </a:txBody>
                  <a:tcPr anchor="t" marL="128016" marR="128016" marT="73152" marB="73152">
                    <a:solidFill>
                      <a:srgbClr val="F6F6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F0F0F"/>
                          </a:solidFill>
                          <a:latin typeface="Helvetica Neue"/>
                        </a:rPr>
                        <a:t>принятые архитектурные решения и их причины</a:t>
                      </a:r>
                    </a:p>
                  </a:txBody>
                  <a:tcPr anchor="t" marL="128016" marR="128016" marT="73152" marB="73152"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7091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600">
                <a:solidFill>
                  <a:srgbClr val="0F0F0F"/>
                </a:solidFill>
                <a:latin typeface="Helvetica Neue"/>
              </a:rPr>
              <a:t>Всё это markdown в git. Читают три стороны: Claude, Codex и люди. Новая сессия начинает с выводов прошлой, а не с чистого листа.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1124712" cy="384048"/>
          </a:xfrm>
          <a:prstGeom prst="roundRect">
            <a:avLst>
              <a:gd name="adj" fmla="val 50000"/>
            </a:avLst>
          </a:prstGeom>
          <a:solidFill>
            <a:srgbClr val="406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 Neue"/>
              </a:rPr>
              <a:t>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7379"/>
                </a:solidFill>
                <a:latin typeface="Helvetica Neue"/>
              </a:rPr>
              <a:t>tez.taxi · AI workshop</a:t>
            </a:r>
            <a:r>
              <a:rPr sz="1000">
                <a:solidFill>
                  <a:srgbClr val="6E7379"/>
                </a:solidFill>
                <a:latin typeface="Helvetica Neue"/>
              </a:rPr>
              <a:t>    6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0F0F"/>
                </a:solidFill>
                <a:latin typeface="Helvetica Neue"/>
              </a:rPr>
              <a:t>Skill: инструкция, которая запускается сама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550">
                <a:solidFill>
                  <a:srgbClr val="0F0F0F"/>
                </a:solidFill>
                <a:latin typeface="Helvetica Neue"/>
              </a:rPr>
              <a:t>Skill — это файл с описанием задачи и пошаговым порядком действий. Агент постоянно видит только короткое описание; полный текст читает, когда задача совпала. Эти skills лежат прямо в репозитории проекта: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880360"/>
          <a:ext cx="1088136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7863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7379"/>
                          </a:solidFill>
                          <a:latin typeface="Helvetica Neue"/>
                        </a:rPr>
                        <a:t>skill в репозитории</a:t>
                      </a:r>
                    </a:p>
                  </a:txBody>
                  <a:tcPr anchor="t" marL="128016" marR="128016" marT="73152" marB="73152">
                    <a:solidFill>
                      <a:srgbClr val="F0F1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7379"/>
                          </a:solidFill>
                          <a:latin typeface="Helvetica Neue"/>
                        </a:rPr>
                        <a:t>что делает</a:t>
                      </a:r>
                    </a:p>
                  </a:txBody>
                  <a:tcPr anchor="t" marL="128016" marR="128016" marT="73152" marB="73152">
                    <a:solidFill>
                      <a:srgbClr val="F0F1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06FE5"/>
                          </a:solidFill>
                          <a:latin typeface="Helvetica Neue"/>
                        </a:rPr>
                        <a:t>run-app-ios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F0F0F"/>
                          </a:solidFill>
                          <a:latin typeface="Helvetica Neue"/>
                        </a:rPr>
                        <a:t>запуск client или driver на iOS-симуляторе, включая настройку ключей карт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06FE5"/>
                          </a:solidFill>
                          <a:latin typeface="Helvetica Neue"/>
                        </a:rPr>
                        <a:t>teztaxi-debug-harness</a:t>
                      </a:r>
                    </a:p>
                  </a:txBody>
                  <a:tcPr anchor="t" marL="128016" marR="128016" marT="73152" marB="73152">
                    <a:solidFill>
                      <a:srgbClr val="F6F6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F0F0F"/>
                          </a:solidFill>
                          <a:latin typeface="Helvetica Neue"/>
                        </a:rPr>
                        <a:t>воспроизведение багов: фейковый заказ, логи, управление устройством</a:t>
                      </a:r>
                    </a:p>
                  </a:txBody>
                  <a:tcPr anchor="t" marL="128016" marR="128016" marT="73152" marB="73152">
                    <a:solidFill>
                      <a:srgbClr val="F6F6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06FE5"/>
                          </a:solidFill>
                          <a:latin typeface="Helvetica Neue"/>
                        </a:rPr>
                        <a:t>teztaxi-gitlab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F0F0F"/>
                          </a:solidFill>
                          <a:latin typeface="Helvetica Neue"/>
                        </a:rPr>
                        <a:t>merge request, статус pipeline, merge — через glab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06FE5"/>
                          </a:solidFill>
                          <a:latin typeface="Helvetica Neue"/>
                        </a:rPr>
                        <a:t>teztaxi-jira</a:t>
                      </a:r>
                    </a:p>
                  </a:txBody>
                  <a:tcPr anchor="t" marL="128016" marR="128016" marT="73152" marB="73152">
                    <a:solidFill>
                      <a:srgbClr val="F6F6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F0F0F"/>
                          </a:solidFill>
                          <a:latin typeface="Helvetica Neue"/>
                        </a:rPr>
                        <a:t>работа с задачами в Jira: посмотреть, перевести статус</a:t>
                      </a:r>
                    </a:p>
                  </a:txBody>
                  <a:tcPr anchor="t" marL="128016" marR="128016" marT="73152" marB="73152">
                    <a:solidFill>
                      <a:srgbClr val="F6F6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06FE5"/>
                          </a:solidFill>
                          <a:latin typeface="Helvetica Neue"/>
                        </a:rPr>
                        <a:t>project-atlas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F0F0F"/>
                          </a:solidFill>
                          <a:latin typeface="Helvetica Neue"/>
                        </a:rPr>
                        <a:t>навигация по архитектуре: какой документ читать под какую задачу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1124712" cy="384048"/>
          </a:xfrm>
          <a:prstGeom prst="roundRect">
            <a:avLst>
              <a:gd name="adj" fmla="val 50000"/>
            </a:avLst>
          </a:prstGeom>
          <a:solidFill>
            <a:srgbClr val="406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 Neue"/>
              </a:rPr>
              <a:t>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7379"/>
                </a:solidFill>
                <a:latin typeface="Helvetica Neue"/>
              </a:rPr>
              <a:t>tez.taxi · AI workshop</a:t>
            </a:r>
            <a:r>
              <a:rPr sz="1000">
                <a:solidFill>
                  <a:srgbClr val="6E7379"/>
                </a:solidFill>
                <a:latin typeface="Helvetica Neue"/>
              </a:rPr>
              <a:t>    7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0F0F"/>
                </a:solidFill>
                <a:latin typeface="Helvetica Neue"/>
              </a:rPr>
              <a:t>Как появляется skill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700" b="1">
                <a:solidFill>
                  <a:srgbClr val="406FE5"/>
                </a:solidFill>
                <a:latin typeface="Helvetica Neue"/>
              </a:rPr>
              <a:t>•  </a:t>
            </a:r>
            <a:r>
              <a:rPr sz="1700" b="1">
                <a:solidFill>
                  <a:srgbClr val="0F0F0F"/>
                </a:solidFill>
                <a:latin typeface="Helvetica Neue"/>
              </a:rPr>
              <a:t>1. </a:t>
            </a:r>
            <a:r>
              <a:rPr sz="1700">
                <a:solidFill>
                  <a:srgbClr val="6E7379"/>
                </a:solidFill>
                <a:latin typeface="Helvetica Neue"/>
              </a:rPr>
              <a:t>Прошёл рабочий путь руками. Второй раз. На третий — это кандидат в skill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700" b="1">
                <a:solidFill>
                  <a:srgbClr val="406FE5"/>
                </a:solidFill>
                <a:latin typeface="Helvetica Neue"/>
              </a:rPr>
              <a:t>•  </a:t>
            </a:r>
            <a:r>
              <a:rPr sz="1700" b="1">
                <a:solidFill>
                  <a:srgbClr val="0F0F0F"/>
                </a:solidFill>
                <a:latin typeface="Helvetica Neue"/>
              </a:rPr>
              <a:t>2. </a:t>
            </a:r>
            <a:r>
              <a:rPr sz="1700">
                <a:solidFill>
                  <a:srgbClr val="6E7379"/>
                </a:solidFill>
                <a:latin typeface="Helvetica Neue"/>
              </a:rPr>
              <a:t>Попросил агента оформить прошедшую сессию в инструкцию: он помнит все команды и ошибки точнее человека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700" b="1">
                <a:solidFill>
                  <a:srgbClr val="406FE5"/>
                </a:solidFill>
                <a:latin typeface="Helvetica Neue"/>
              </a:rPr>
              <a:t>•  </a:t>
            </a:r>
            <a:r>
              <a:rPr sz="1700" b="1">
                <a:solidFill>
                  <a:srgbClr val="0F0F0F"/>
                </a:solidFill>
                <a:latin typeface="Helvetica Neue"/>
              </a:rPr>
              <a:t>3. </a:t>
            </a:r>
            <a:r>
              <a:rPr sz="1700">
                <a:solidFill>
                  <a:srgbClr val="6E7379"/>
                </a:solidFill>
                <a:latin typeface="Helvetica Neue"/>
              </a:rPr>
              <a:t>Поправил руками два места: условие запуска и список «чего не делать»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700" b="1">
                <a:solidFill>
                  <a:srgbClr val="406FE5"/>
                </a:solidFill>
                <a:latin typeface="Helvetica Neue"/>
              </a:rPr>
              <a:t>•  </a:t>
            </a:r>
            <a:r>
              <a:rPr sz="1700" b="1">
                <a:solidFill>
                  <a:srgbClr val="0F0F0F"/>
                </a:solidFill>
                <a:latin typeface="Helvetica Neue"/>
              </a:rPr>
              <a:t>4. </a:t>
            </a:r>
            <a:r>
              <a:rPr sz="1700">
                <a:solidFill>
                  <a:srgbClr val="6E7379"/>
                </a:solidFill>
                <a:latin typeface="Helvetica Neue"/>
              </a:rPr>
              <a:t>Положил в git. Дальше инструкция уточняется по мере новых случаев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4632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600">
                <a:solidFill>
                  <a:srgbClr val="0F0F0F"/>
                </a:solidFill>
                <a:latin typeface="Helvetica Neue"/>
              </a:rPr>
              <a:t>Хороший skill — как инструкция по сборке: точное условие запуска, конкретные команды, известные ошибки. Плохой — длинная статья без конкретики.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1741932" cy="384048"/>
          </a:xfrm>
          <a:prstGeom prst="roundRect">
            <a:avLst>
              <a:gd name="adj" fmla="val 50000"/>
            </a:avLst>
          </a:prstGeom>
          <a:solidFill>
            <a:srgbClr val="FFC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300" b="1">
                <a:solidFill>
                  <a:srgbClr val="0F0F0F"/>
                </a:solidFill>
                <a:latin typeface="Helvetica Neue"/>
              </a:rPr>
              <a:t>инструменты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7379"/>
                </a:solidFill>
                <a:latin typeface="Helvetica Neue"/>
              </a:rPr>
              <a:t>tez.taxi · AI workshop</a:t>
            </a:r>
            <a:r>
              <a:rPr sz="1000">
                <a:solidFill>
                  <a:srgbClr val="6E7379"/>
                </a:solidFill>
                <a:latin typeface="Helvetica Neue"/>
              </a:rPr>
              <a:t>    8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0F0F"/>
                </a:solidFill>
                <a:latin typeface="Helvetica Neue"/>
              </a:rPr>
              <a:t>rtk — экономия context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600">
                <a:solidFill>
                  <a:srgbClr val="0F0F0F"/>
                </a:solidFill>
                <a:latin typeface="Helvetica Neue"/>
              </a:rPr>
              <a:t>Проблема: вывод команд (git, поиск по коду, списки файлов) занимает огромную часть окна агента. Одна длинная сессия — и место кончилось.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600">
                <a:solidFill>
                  <a:srgbClr val="0F0F0F"/>
                </a:solidFill>
                <a:latin typeface="Helvetica Neue"/>
              </a:rPr>
              <a:t>Решение: rtk перехватывает эти команды и отдаёт агенту сжатый вывод с тем же смыслом. Работает через hook — правило, которое срабатывает автоматически, агент даже не знает о подмене.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977639"/>
            <a:ext cx="10972800" cy="1371600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142231"/>
            <a:ext cx="1051560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406FE5"/>
                </a:solidFill>
                <a:latin typeface="Helvetica Neue"/>
              </a:rPr>
              <a:t>Эффект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50">
                <a:solidFill>
                  <a:srgbClr val="0F0F0F"/>
                </a:solidFill>
                <a:latin typeface="Helvetica Neue"/>
              </a:rPr>
              <a:t>Экономия 60–90% объёма на типовых командах. Это буквально в разы больше полезной работы в одной сессии без потери информации.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1741932" cy="384048"/>
          </a:xfrm>
          <a:prstGeom prst="roundRect">
            <a:avLst>
              <a:gd name="adj" fmla="val 50000"/>
            </a:avLst>
          </a:prstGeom>
          <a:solidFill>
            <a:srgbClr val="FFC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300" b="1">
                <a:solidFill>
                  <a:srgbClr val="0F0F0F"/>
                </a:solidFill>
                <a:latin typeface="Helvetica Neue"/>
              </a:rPr>
              <a:t>инструменты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7379"/>
                </a:solidFill>
                <a:latin typeface="Helvetica Neue"/>
              </a:rPr>
              <a:t>tez.taxi · AI workshop</a:t>
            </a:r>
            <a:r>
              <a:rPr sz="1000">
                <a:solidFill>
                  <a:srgbClr val="6E7379"/>
                </a:solidFill>
                <a:latin typeface="Helvetica Neue"/>
              </a:rPr>
              <a:t>    9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0F0F"/>
                </a:solidFill>
                <a:latin typeface="Helvetica Neue"/>
              </a:rPr>
              <a:t>superpowers — дисциплина процесса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600">
                <a:solidFill>
                  <a:srgbClr val="0F0F0F"/>
                </a:solidFill>
                <a:latin typeface="Helvetica Neue"/>
              </a:rPr>
              <a:t>Набор процессных skills, которые не дают агенту «сразу писать код». Главное правило — жёсткий шлагбаум: сначала обсуждение и спецификация, одобрение человека, потом реализация.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 b="1">
                <a:solidFill>
                  <a:srgbClr val="406FE5"/>
                </a:solidFill>
                <a:latin typeface="Helvetica Neue"/>
              </a:rPr>
              <a:t>•  </a:t>
            </a:r>
            <a:r>
              <a:rPr sz="1600" b="1">
                <a:solidFill>
                  <a:srgbClr val="0F0F0F"/>
                </a:solidFill>
                <a:latin typeface="Helvetica Neue"/>
              </a:rPr>
              <a:t>brainstorming: </a:t>
            </a:r>
            <a:r>
              <a:rPr sz="1600">
                <a:solidFill>
                  <a:srgbClr val="6E7379"/>
                </a:solidFill>
                <a:latin typeface="Helvetica Neue"/>
              </a:rPr>
              <a:t>уточняющие вопросы и варианты решения до строчки кода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 b="1">
                <a:solidFill>
                  <a:srgbClr val="406FE5"/>
                </a:solidFill>
                <a:latin typeface="Helvetica Neue"/>
              </a:rPr>
              <a:t>•  </a:t>
            </a:r>
            <a:r>
              <a:rPr sz="1600" b="1">
                <a:solidFill>
                  <a:srgbClr val="0F0F0F"/>
                </a:solidFill>
                <a:latin typeface="Helvetica Neue"/>
              </a:rPr>
              <a:t>test-driven development: </a:t>
            </a:r>
            <a:r>
              <a:rPr sz="1600">
                <a:solidFill>
                  <a:srgbClr val="6E7379"/>
                </a:solidFill>
                <a:latin typeface="Helvetica Neue"/>
              </a:rPr>
              <a:t>сначала тест, который падает, потом код, который его чинит</a:t>
            </a:r>
          </a:p>
          <a:p>
            <a:pPr>
              <a:lnSpc>
                <a:spcPct val="125000"/>
              </a:lnSpc>
              <a:spcAft>
                <a:spcPts val="1200"/>
              </a:spcAft>
            </a:pPr>
            <a:r>
              <a:rPr sz="1600" b="1">
                <a:solidFill>
                  <a:srgbClr val="406FE5"/>
                </a:solidFill>
                <a:latin typeface="Helvetica Neue"/>
              </a:rPr>
              <a:t>•  </a:t>
            </a:r>
            <a:r>
              <a:rPr sz="1600" b="1">
                <a:solidFill>
                  <a:srgbClr val="0F0F0F"/>
                </a:solidFill>
                <a:latin typeface="Helvetica Neue"/>
              </a:rPr>
              <a:t>планы: </a:t>
            </a:r>
            <a:r>
              <a:rPr sz="1600">
                <a:solidFill>
                  <a:srgbClr val="6E7379"/>
                </a:solidFill>
                <a:latin typeface="Helvetica Neue"/>
              </a:rPr>
              <a:t>реализация разбивается на маленькие проверяемые шаги с отдельными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600">
                <a:solidFill>
                  <a:srgbClr val="0F0F0F"/>
                </a:solidFill>
                <a:latin typeface="Helvetica Neue"/>
              </a:rPr>
              <a:t>Смысл: у агента появляется рабочий процесс, как у аккуратного инженера.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1741932" cy="384048"/>
          </a:xfrm>
          <a:prstGeom prst="roundRect">
            <a:avLst>
              <a:gd name="adj" fmla="val 50000"/>
            </a:avLst>
          </a:prstGeom>
          <a:solidFill>
            <a:srgbClr val="FFC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300" b="1">
                <a:solidFill>
                  <a:srgbClr val="0F0F0F"/>
                </a:solidFill>
                <a:latin typeface="Helvetica Neue"/>
              </a:rPr>
              <a:t>инструменты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7379"/>
                </a:solidFill>
                <a:latin typeface="Helvetica Neue"/>
              </a:rPr>
              <a:t>tez.taxi · AI workshop</a:t>
            </a:r>
            <a:r>
              <a:rPr sz="1000">
                <a:solidFill>
                  <a:srgbClr val="6E7379"/>
                </a:solidFill>
                <a:latin typeface="Helvetica Neue"/>
              </a:rPr>
              <a:t>    10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0F0F"/>
                </a:solidFill>
                <a:latin typeface="Helvetica Neue"/>
              </a:rPr>
              <a:t>codex — вторая модель для проверки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600">
                <a:solidFill>
                  <a:srgbClr val="0F0F0F"/>
                </a:solidFill>
                <a:latin typeface="Helvetica Neue"/>
              </a:rPr>
              <a:t>Плагин-мост к Codex (модель OpenAI). Claude пишет — Codex независимо проверяет: спецификацию, код, готовый merge request. Запускается фоновой задачей, результат приходит отчётом.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600">
                <a:solidFill>
                  <a:srgbClr val="0F0F0F"/>
                </a:solidFill>
                <a:latin typeface="Helvetica Neue"/>
              </a:rPr>
              <a:t>Зачем два разных AI: у разных моделей разные слепые зоны. То, что одна уверенно пропустит, другая заметит.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14800"/>
            <a:ext cx="10972800" cy="1554480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279392"/>
            <a:ext cx="10515600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54131"/>
                </a:solidFill>
                <a:latin typeface="Helvetica Neue"/>
              </a:rPr>
              <a:t>Вчерашний пример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50">
                <a:solidFill>
                  <a:srgbClr val="0F0F0F"/>
                </a:solidFill>
                <a:latin typeface="Helvetica Neue"/>
              </a:rPr>
              <a:t>Codex нашёл в коде Claude два критических дефекта: небезопасный одновременный доступ к файлу и выгрузку файлов, которые могли быть удалены во время отправки. Оба исправлены до попадания в main.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1741932" cy="384048"/>
          </a:xfrm>
          <a:prstGeom prst="roundRect">
            <a:avLst>
              <a:gd name="adj" fmla="val 50000"/>
            </a:avLst>
          </a:prstGeom>
          <a:solidFill>
            <a:srgbClr val="FFC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300" b="1">
                <a:solidFill>
                  <a:srgbClr val="0F0F0F"/>
                </a:solidFill>
                <a:latin typeface="Helvetica Neue"/>
              </a:rPr>
              <a:t>инструменты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7379"/>
                </a:solidFill>
                <a:latin typeface="Helvetica Neue"/>
              </a:rPr>
              <a:t>tez.taxi · AI workshop</a:t>
            </a:r>
            <a:r>
              <a:rPr sz="1000">
                <a:solidFill>
                  <a:srgbClr val="6E7379"/>
                </a:solidFill>
                <a:latin typeface="Helvetica Neue"/>
              </a:rPr>
              <a:t>    11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0F0F"/>
                </a:solidFill>
                <a:latin typeface="Helvetica Neue"/>
              </a:rPr>
              <a:t>MCP или skill: подключение или знание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5394960" cy="3017520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76272"/>
            <a:ext cx="4937760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406FE5"/>
                </a:solidFill>
                <a:latin typeface="Helvetica Neue"/>
              </a:rPr>
              <a:t>MCP-сервер = доступ к системе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0F0F0F"/>
                </a:solidFill>
                <a:latin typeface="Helvetica Neue"/>
              </a:rPr>
              <a:t>живое подключение с набором операций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0F0F0F"/>
                </a:solidFill>
                <a:latin typeface="Helvetica Neue"/>
              </a:rPr>
              <a:t>пример: dcm — статический анализ кода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0F0F0F"/>
                </a:solidFill>
                <a:latin typeface="Helvetica Neue"/>
              </a:rPr>
              <a:t>пример: context7 — свежая документация библиотек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0F0F0F"/>
                </a:solidFill>
                <a:latin typeface="Helvetica Neue"/>
              </a:rPr>
              <a:t>нужен, когда агенту требуется API,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0F0F0F"/>
                </a:solidFill>
                <a:latin typeface="Helvetica Neue"/>
              </a:rPr>
              <a:t>до которого иначе не дотянуться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011680"/>
            <a:ext cx="5257800" cy="3017520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176272"/>
            <a:ext cx="4800600" cy="2688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39CAEA"/>
                </a:solidFill>
                <a:latin typeface="Helvetica Neue"/>
              </a:rPr>
              <a:t>Skill = знание процесса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0F0F0F"/>
                </a:solidFill>
                <a:latin typeface="Helvetica Neue"/>
              </a:rPr>
              <a:t>текстовая инструкция в git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0F0F0F"/>
                </a:solidFill>
                <a:latin typeface="Helvetica Neue"/>
              </a:rPr>
              <a:t>ничего не запущено — нечему ломаться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0F0F0F"/>
                </a:solidFill>
                <a:latin typeface="Helvetica Neue"/>
              </a:rPr>
              <a:t>проходит code review как обычный код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0F0F0F"/>
                </a:solidFill>
                <a:latin typeface="Helvetica Neue"/>
              </a:rPr>
              <a:t>дешевле в поддержке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0F0F0F"/>
                </a:solidFill>
                <a:latin typeface="Helvetica Neue"/>
              </a:rPr>
              <a:t>покрывает большинство задач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5780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600">
                <a:solidFill>
                  <a:srgbClr val="0F0F0F"/>
                </a:solidFill>
                <a:latin typeface="Helvetica Neue"/>
              </a:rPr>
              <a:t>Практическое правило: нужен доступ к внешней системе — MCP; нужен порядок действий — skill. Если сомневаетесь, начните со skill.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1741932" cy="384048"/>
          </a:xfrm>
          <a:prstGeom prst="roundRect">
            <a:avLst>
              <a:gd name="adj" fmla="val 50000"/>
            </a:avLst>
          </a:prstGeom>
          <a:solidFill>
            <a:srgbClr val="FFC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300" b="1">
                <a:solidFill>
                  <a:srgbClr val="0F0F0F"/>
                </a:solidFill>
                <a:latin typeface="Helvetica Neue"/>
              </a:rPr>
              <a:t>инструменты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7379"/>
                </a:solidFill>
                <a:latin typeface="Helvetica Neue"/>
              </a:rPr>
              <a:t>tez.taxi · AI workshop</a:t>
            </a:r>
            <a:r>
              <a:rPr sz="1000">
                <a:solidFill>
                  <a:srgbClr val="6E7379"/>
                </a:solidFill>
                <a:latin typeface="Helvetica Neue"/>
              </a:rPr>
              <a:t>    12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0F0F"/>
                </a:solidFill>
                <a:latin typeface="Helvetica Neue"/>
              </a:rPr>
              <a:t>Субагенты: отдельные исполнители под подзадачи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600">
                <a:solidFill>
                  <a:srgbClr val="0F0F0F"/>
                </a:solidFill>
                <a:latin typeface="Helvetica Neue"/>
              </a:rPr>
              <a:t>Субагент — отдельный агент со своим чистым context window. Главная сессия держит задачу целиком и раздаёт подзадачи: «изучи, как устроен этот модуль», «подготовь план». Обратно приходит короткий отчёт, а не тысячи строк прочитанных файлов.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600">
                <a:solidFill>
                  <a:srgbClr val="0F0F0F"/>
                </a:solidFill>
                <a:latin typeface="Helvetica Neue"/>
              </a:rPr>
              <a:t>Несколько независимых субагентов работают параллельно — три исследования по времени стоят как одно.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600">
                <a:solidFill>
                  <a:srgbClr val="0F0F0F"/>
                </a:solidFill>
                <a:latin typeface="Helvetica Neue"/>
              </a:rPr>
              <a:t>Правило: субагенту делегируют сбор информации и черновую работу. Решения принимает главная сессия, у которой есть весь контекст задачи.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1124712" cy="384048"/>
          </a:xfrm>
          <a:prstGeom prst="roundRect">
            <a:avLst>
              <a:gd name="adj" fmla="val 50000"/>
            </a:avLst>
          </a:prstGeom>
          <a:solidFill>
            <a:srgbClr val="441C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 Neue"/>
              </a:rPr>
              <a:t>подход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7379"/>
                </a:solidFill>
                <a:latin typeface="Helvetica Neue"/>
              </a:rPr>
              <a:t>tez.taxi · AI workshop</a:t>
            </a:r>
            <a:r>
              <a:rPr sz="1000">
                <a:solidFill>
                  <a:srgbClr val="6E7379"/>
                </a:solidFill>
                <a:latin typeface="Helvetica Neue"/>
              </a:rPr>
              <a:t>    13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0F0F"/>
                </a:solidFill>
                <a:latin typeface="Helvetica Neue"/>
              </a:rPr>
              <a:t>SDD — Spec-Driven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600">
                <a:solidFill>
                  <a:srgbClr val="0F0F0F"/>
                </a:solidFill>
                <a:latin typeface="Helvetica Neue"/>
              </a:rPr>
              <a:t>Подход: сначала специфицируем, что и с какими ограничениями делаем, и только потом пишем код.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2121408" cy="1737360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907792"/>
            <a:ext cx="1664207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406FE5"/>
                </a:solidFill>
                <a:latin typeface="Helvetica Neue"/>
              </a:rPr>
              <a:t>1. Спека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250">
                <a:solidFill>
                  <a:srgbClr val="0F0F0F"/>
                </a:solidFill>
                <a:latin typeface="Helvetica Neue"/>
              </a:rPr>
              <a:t>цель, ограничения,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250">
                <a:solidFill>
                  <a:srgbClr val="0F0F0F"/>
                </a:solidFill>
                <a:latin typeface="Helvetica Neue"/>
              </a:rPr>
              <a:t>граничные случаи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52928" y="2743200"/>
            <a:ext cx="2121408" cy="1737360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81528" y="2907792"/>
            <a:ext cx="1664207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39CAEA"/>
                </a:solidFill>
                <a:latin typeface="Helvetica Neue"/>
              </a:rPr>
              <a:t>2. Ревью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250">
                <a:solidFill>
                  <a:srgbClr val="0F0F0F"/>
                </a:solidFill>
                <a:latin typeface="Helvetica Neue"/>
              </a:rPr>
              <a:t>человек + вторая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250">
                <a:solidFill>
                  <a:srgbClr val="0F0F0F"/>
                </a:solidFill>
                <a:latin typeface="Helvetica Neue"/>
              </a:rPr>
              <a:t>модель, до кода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65776" y="2743200"/>
            <a:ext cx="2121408" cy="1737360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94376" y="2907792"/>
            <a:ext cx="1664207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441CB7"/>
                </a:solidFill>
                <a:latin typeface="Helvetica Neue"/>
              </a:rPr>
              <a:t>3. План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250">
                <a:solidFill>
                  <a:srgbClr val="0F0F0F"/>
                </a:solidFill>
                <a:latin typeface="Helvetica Neue"/>
              </a:rPr>
              <a:t>маленькие шаги,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250">
                <a:solidFill>
                  <a:srgbClr val="0F0F0F"/>
                </a:solidFill>
                <a:latin typeface="Helvetica Neue"/>
              </a:rPr>
              <a:t>каждый проверяем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78624" y="2743200"/>
            <a:ext cx="2121408" cy="1737360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7224" y="2907792"/>
            <a:ext cx="1664207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406FE5"/>
                </a:solidFill>
                <a:latin typeface="Helvetica Neue"/>
              </a:rPr>
              <a:t>4. Код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250">
                <a:solidFill>
                  <a:srgbClr val="0F0F0F"/>
                </a:solidFill>
                <a:latin typeface="Helvetica Neue"/>
              </a:rPr>
              <a:t>по плану, тест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250">
                <a:solidFill>
                  <a:srgbClr val="0F0F0F"/>
                </a:solidFill>
                <a:latin typeface="Helvetica Neue"/>
              </a:rPr>
              <a:t>перед реализацией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91472" y="2743200"/>
            <a:ext cx="2121408" cy="1737360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20072" y="2907792"/>
            <a:ext cx="1664207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39CAEA"/>
                </a:solidFill>
                <a:latin typeface="Helvetica Neue"/>
              </a:rPr>
              <a:t>5. Проверка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250">
                <a:solidFill>
                  <a:srgbClr val="0F0F0F"/>
                </a:solidFill>
                <a:latin typeface="Helvetica Neue"/>
              </a:rPr>
              <a:t>тесты, запуск,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250">
                <a:solidFill>
                  <a:srgbClr val="0F0F0F"/>
                </a:solidFill>
                <a:latin typeface="Helvetica Neue"/>
              </a:rPr>
              <a:t>повторное ревью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92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600">
                <a:solidFill>
                  <a:srgbClr val="0F0F0F"/>
                </a:solidFill>
                <a:latin typeface="Helvetica Neue"/>
              </a:rPr>
              <a:t>Экономика простая: спецификация на две страницы правится за минуты, код — за часы. Ошибка, пойманная до реализации, самая дешёвая.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877824" cy="384048"/>
          </a:xfrm>
          <a:prstGeom prst="roundRect">
            <a:avLst>
              <a:gd name="adj" fmla="val 50000"/>
            </a:avLst>
          </a:prstGeom>
          <a:solidFill>
            <a:srgbClr val="39C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 Neue"/>
              </a:rPr>
              <a:t>кейс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7379"/>
                </a:solidFill>
                <a:latin typeface="Helvetica Neue"/>
              </a:rPr>
              <a:t>tez.taxi · AI workshop</a:t>
            </a:r>
            <a:r>
              <a:rPr sz="1000">
                <a:solidFill>
                  <a:srgbClr val="6E7379"/>
                </a:solidFill>
                <a:latin typeface="Helvetica Neue"/>
              </a:rPr>
              <a:t>    14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0F0F"/>
                </a:solidFill>
                <a:latin typeface="Helvetica Neue"/>
              </a:rPr>
              <a:t>Кейс: логи сессий для поддержки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600">
                <a:solidFill>
                  <a:srgbClr val="0F0F0F"/>
                </a:solidFill>
                <a:latin typeface="Helvetica Neue"/>
              </a:rPr>
              <a:t>Задача: приложение хранит логи каждой сессии на устройстве; они переживают сбой; пользователь отправляет их в поддержку одной кнопкой. Один вечер, полный цикл по SDD: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834640"/>
          <a:ext cx="1088136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80160"/>
                <a:gridCol w="96012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7379"/>
                          </a:solidFill>
                          <a:latin typeface="Helvetica Neue"/>
                        </a:rPr>
                        <a:t>время</a:t>
                      </a:r>
                    </a:p>
                  </a:txBody>
                  <a:tcPr anchor="t" marL="128016" marR="128016" marT="73152" marB="73152">
                    <a:solidFill>
                      <a:srgbClr val="F0F1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7379"/>
                          </a:solidFill>
                          <a:latin typeface="Helvetica Neue"/>
                        </a:rPr>
                        <a:t>шаг</a:t>
                      </a:r>
                    </a:p>
                  </a:txBody>
                  <a:tcPr anchor="t" marL="128016" marR="128016" marT="73152" marB="73152">
                    <a:solidFill>
                      <a:srgbClr val="F0F1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06FE5"/>
                          </a:solidFill>
                          <a:latin typeface="Helvetica Neue"/>
                        </a:rPr>
                        <a:t>18:05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F0F0F"/>
                          </a:solidFill>
                          <a:latin typeface="Helvetica Neue"/>
                        </a:rPr>
                        <a:t>спецификация: ограничения хранения, отказоустойчивость, граничные случаи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06FE5"/>
                          </a:solidFill>
                          <a:latin typeface="Helvetica Neue"/>
                        </a:rPr>
                        <a:t>18:20</a:t>
                      </a:r>
                    </a:p>
                  </a:txBody>
                  <a:tcPr anchor="t" marL="128016" marR="128016" marT="73152" marB="73152">
                    <a:solidFill>
                      <a:srgbClr val="F6F6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F0F0F"/>
                          </a:solidFill>
                          <a:latin typeface="Helvetica Neue"/>
                        </a:rPr>
                        <a:t>Codex проверяет спецификацию, параллельно пишется план</a:t>
                      </a:r>
                    </a:p>
                  </a:txBody>
                  <a:tcPr anchor="t" marL="128016" marR="128016" marT="73152" marB="73152">
                    <a:solidFill>
                      <a:srgbClr val="F6F6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06FE5"/>
                          </a:solidFill>
                          <a:latin typeface="Helvetica Neue"/>
                        </a:rPr>
                        <a:t>18:30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F0F0F"/>
                          </a:solidFill>
                          <a:latin typeface="Helvetica Neue"/>
                        </a:rPr>
                        <a:t>реализация по плану: каждый модуль начинается с падающего теста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06FE5"/>
                          </a:solidFill>
                          <a:latin typeface="Helvetica Neue"/>
                        </a:rPr>
                        <a:t>19:00</a:t>
                      </a:r>
                    </a:p>
                  </a:txBody>
                  <a:tcPr anchor="t" marL="128016" marR="128016" marT="73152" marB="73152">
                    <a:solidFill>
                      <a:srgbClr val="F6F6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F0F0F"/>
                          </a:solidFill>
                          <a:latin typeface="Helvetica Neue"/>
                        </a:rPr>
                        <a:t>обратная связь человека — спецификация и код скорректированы</a:t>
                      </a:r>
                    </a:p>
                  </a:txBody>
                  <a:tcPr anchor="t" marL="128016" marR="128016" marT="73152" marB="73152">
                    <a:solidFill>
                      <a:srgbClr val="F6F6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06FE5"/>
                          </a:solidFill>
                          <a:latin typeface="Helvetica Neue"/>
                        </a:rPr>
                        <a:t>19:40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F0F0F"/>
                          </a:solidFill>
                          <a:latin typeface="Helvetica Neue"/>
                        </a:rPr>
                        <a:t>Codex проверяет код: два критических дефекта, исправлены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06FE5"/>
                          </a:solidFill>
                          <a:latin typeface="Helvetica Neue"/>
                        </a:rPr>
                        <a:t>20:30</a:t>
                      </a:r>
                    </a:p>
                  </a:txBody>
                  <a:tcPr anchor="t" marL="128016" marR="128016" marT="73152" marB="73152">
                    <a:solidFill>
                      <a:srgbClr val="F6F6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F0F0F"/>
                          </a:solidFill>
                          <a:latin typeface="Helvetica Neue"/>
                        </a:rPr>
                        <a:t>два pull request: ядро и Flutter-обвязка, 30+ тестов</a:t>
                      </a:r>
                    </a:p>
                  </a:txBody>
                  <a:tcPr anchor="t" marL="128016" marR="128016" marT="73152" marB="73152"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877824" cy="384048"/>
          </a:xfrm>
          <a:prstGeom prst="roundRect">
            <a:avLst>
              <a:gd name="adj" fmla="val 50000"/>
            </a:avLst>
          </a:prstGeom>
          <a:solidFill>
            <a:srgbClr val="39C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 Neue"/>
              </a:rPr>
              <a:t>кейс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7379"/>
                </a:solidFill>
                <a:latin typeface="Helvetica Neue"/>
              </a:rPr>
              <a:t>tez.taxi · AI workshop</a:t>
            </a:r>
            <a:r>
              <a:rPr sz="1000">
                <a:solidFill>
                  <a:srgbClr val="6E7379"/>
                </a:solidFill>
                <a:latin typeface="Helvetica Neue"/>
              </a:rPr>
              <a:t>    15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0F0F"/>
                </a:solidFill>
                <a:latin typeface="Helvetica Neue"/>
              </a:rPr>
              <a:t>Главные решения из спецификации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80"/>
          <a:ext cx="1088136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51760"/>
                <a:gridCol w="82296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7379"/>
                          </a:solidFill>
                          <a:latin typeface="Helvetica Neue"/>
                        </a:rPr>
                        <a:t>вопрос</a:t>
                      </a:r>
                    </a:p>
                  </a:txBody>
                  <a:tcPr anchor="t" marL="128016" marR="128016" marT="73152" marB="73152">
                    <a:solidFill>
                      <a:srgbClr val="F0F1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6E7379"/>
                          </a:solidFill>
                          <a:latin typeface="Helvetica Neue"/>
                        </a:rPr>
                        <a:t>решение</a:t>
                      </a:r>
                    </a:p>
                  </a:txBody>
                  <a:tcPr anchor="t" marL="128016" marR="128016" marT="73152" marB="73152">
                    <a:solidFill>
                      <a:srgbClr val="F0F1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06FE5"/>
                          </a:solidFill>
                          <a:latin typeface="Helvetica Neue"/>
                        </a:rPr>
                        <a:t>срок жизни логов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F0F0F"/>
                          </a:solidFill>
                          <a:latin typeface="Helvetica Neue"/>
                        </a:rPr>
                        <a:t>7 дней и не больше 20 MiB на всё: старые сессии удаляются автоматически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06FE5"/>
                          </a:solidFill>
                          <a:latin typeface="Helvetica Neue"/>
                        </a:rPr>
                        <a:t>рост файла</a:t>
                      </a:r>
                    </a:p>
                  </a:txBody>
                  <a:tcPr anchor="t" marL="128016" marR="128016" marT="73152" marB="73152">
                    <a:solidFill>
                      <a:srgbClr val="F6F6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F0F0F"/>
                          </a:solidFill>
                          <a:latin typeface="Helvetica Neue"/>
                        </a:rPr>
                        <a:t>сессия пишется частями; при переполнении удаляется самая старая часть — конец сессии важнее начала, потому что сбой обычно в конце</a:t>
                      </a:r>
                    </a:p>
                  </a:txBody>
                  <a:tcPr anchor="t" marL="128016" marR="128016" marT="73152" marB="73152">
                    <a:solidFill>
                      <a:srgbClr val="F6F6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06FE5"/>
                          </a:solidFill>
                          <a:latin typeface="Helvetica Neue"/>
                        </a:rPr>
                        <a:t>сбой при записи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F0F0F"/>
                          </a:solidFill>
                          <a:latin typeface="Helvetica Neue"/>
                        </a:rPr>
                        <a:t>формат «одна запись — одна строка»: при аварии страдает максимум последняя строка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06FE5"/>
                          </a:solidFill>
                          <a:latin typeface="Helvetica Neue"/>
                        </a:rPr>
                        <a:t>диск переполнен</a:t>
                      </a:r>
                    </a:p>
                  </a:txBody>
                  <a:tcPr anchor="t" marL="128016" marR="128016" marT="73152" marB="73152">
                    <a:solidFill>
                      <a:srgbClr val="F6F6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F0F0F"/>
                          </a:solidFill>
                          <a:latin typeface="Helvetica Neue"/>
                        </a:rPr>
                        <a:t>после пяти неудач подряд запись отключается; приложение не падает никогда</a:t>
                      </a:r>
                    </a:p>
                  </a:txBody>
                  <a:tcPr anchor="t" marL="128016" marR="128016" marT="73152" marB="73152">
                    <a:solidFill>
                      <a:srgbClr val="F6F6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406FE5"/>
                          </a:solidFill>
                          <a:latin typeface="Helvetica Neue"/>
                        </a:rPr>
                        <a:t>отправка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0F0F0F"/>
                          </a:solidFill>
                          <a:latin typeface="Helvetica Neue"/>
                        </a:rPr>
                        <a:t>снимок всех логов одним zip-архивом — его безопасно отправлять, пока приложение продолжает писать</a:t>
                      </a:r>
                    </a:p>
                  </a:txBody>
                  <a:tcPr anchor="t" marL="128016" marR="128016" marT="73152" marB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877824" cy="384048"/>
          </a:xfrm>
          <a:prstGeom prst="roundRect">
            <a:avLst>
              <a:gd name="adj" fmla="val 50000"/>
            </a:avLst>
          </a:prstGeom>
          <a:solidFill>
            <a:srgbClr val="39C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 Neue"/>
              </a:rPr>
              <a:t>кейс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7379"/>
                </a:solidFill>
                <a:latin typeface="Helvetica Neue"/>
              </a:rPr>
              <a:t>tez.taxi · AI workshop</a:t>
            </a:r>
            <a:r>
              <a:rPr sz="1000">
                <a:solidFill>
                  <a:srgbClr val="6E7379"/>
                </a:solidFill>
                <a:latin typeface="Helvetica Neue"/>
              </a:rPr>
              <a:t>    16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0F0F"/>
                </a:solidFill>
                <a:latin typeface="Helvetica Neue"/>
              </a:rPr>
              <a:t>Что дало ревью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5394960" cy="2926080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221992"/>
            <a:ext cx="4937760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406FE5"/>
                </a:solidFill>
                <a:latin typeface="Helvetica Neue"/>
              </a:rPr>
              <a:t>Человек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0F0F0F"/>
                </a:solidFill>
                <a:latin typeface="Helvetica Neue"/>
              </a:rPr>
              <a:t>«лимит на количество сессий не нужен —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0F0F0F"/>
                </a:solidFill>
                <a:latin typeface="Helvetica Neue"/>
              </a:rPr>
              <a:t>хватит срока и объёма» — минус сущность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0F0F0F"/>
                </a:solidFill>
                <a:latin typeface="Helvetica Neue"/>
              </a:rPr>
              <a:t/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0F0F0F"/>
                </a:solidFill>
                <a:latin typeface="Helvetica Neue"/>
              </a:rPr>
              <a:t>«добавьте отправку архивом» — плюс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0F0F0F"/>
                </a:solidFill>
                <a:latin typeface="Helvetica Neue"/>
              </a:rPr>
              <a:t>функция, которой не было в первой версии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057400"/>
            <a:ext cx="5257800" cy="2926080"/>
          </a:xfrm>
          <a:prstGeom prst="roundRect">
            <a:avLst>
              <a:gd name="adj" fmla="val 12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221992"/>
            <a:ext cx="4800600" cy="2596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54131"/>
                </a:solidFill>
                <a:latin typeface="Helvetica Neue"/>
              </a:rPr>
              <a:t>Codex (вторая модель)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0F0F0F"/>
                </a:solidFill>
                <a:latin typeface="Helvetica Neue"/>
              </a:rPr>
              <a:t>небезопасный одновременный доступ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0F0F0F"/>
                </a:solidFill>
                <a:latin typeface="Helvetica Neue"/>
              </a:rPr>
              <a:t>к файлу из разных операций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0F0F0F"/>
                </a:solidFill>
                <a:latin typeface="Helvetica Neue"/>
              </a:rPr>
              <a:t/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0F0F0F"/>
                </a:solidFill>
                <a:latin typeface="Helvetica Neue"/>
              </a:rPr>
              <a:t>отправка «живых» файлов, которые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400">
                <a:solidFill>
                  <a:srgbClr val="0F0F0F"/>
                </a:solidFill>
                <a:latin typeface="Helvetica Neue"/>
              </a:rPr>
              <a:t>могли быть удалены в этот момент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1208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600">
                <a:solidFill>
                  <a:srgbClr val="0F0F0F"/>
                </a:solidFill>
                <a:latin typeface="Helvetica Neue"/>
              </a:rPr>
              <a:t>Разные ревьюеры находят разное: человек проверяет смысл и продуктовую логику, вторая модель — техническую корректность. Оба раунда до main.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1001268" cy="384048"/>
          </a:xfrm>
          <a:prstGeom prst="roundRect">
            <a:avLst>
              <a:gd name="adj" fmla="val 50000"/>
            </a:avLst>
          </a:prstGeom>
          <a:solidFill>
            <a:srgbClr val="406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 Neue"/>
              </a:rPr>
              <a:t>старт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7379"/>
                </a:solidFill>
                <a:latin typeface="Helvetica Neue"/>
              </a:rPr>
              <a:t>tez.taxi · AI workshop</a:t>
            </a:r>
            <a:r>
              <a:rPr sz="1000">
                <a:solidFill>
                  <a:srgbClr val="6E7379"/>
                </a:solidFill>
                <a:latin typeface="Helvetica Neue"/>
              </a:rPr>
              <a:t>    17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F0F0F"/>
                </a:solidFill>
                <a:latin typeface="Helvetica Neue"/>
              </a:rPr>
              <a:t>С чего начать команде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650" b="1">
                <a:solidFill>
                  <a:srgbClr val="406FE5"/>
                </a:solidFill>
                <a:latin typeface="Helvetica Neue"/>
              </a:rPr>
              <a:t>•  </a:t>
            </a:r>
            <a:r>
              <a:rPr sz="1650" b="1">
                <a:solidFill>
                  <a:srgbClr val="0F0F0F"/>
                </a:solidFill>
                <a:latin typeface="Helvetica Neue"/>
              </a:rPr>
              <a:t>1. CLAUDE.md в репозитории. </a:t>
            </a:r>
            <a:r>
              <a:rPr sz="1650">
                <a:solidFill>
                  <a:srgbClr val="6E7379"/>
                </a:solidFill>
                <a:latin typeface="Helvetica Neue"/>
              </a:rPr>
              <a:t>Правила сборки и запреты. Час работы — и любой агент у любого члена команды играет по правилам проекта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650" b="1">
                <a:solidFill>
                  <a:srgbClr val="406FE5"/>
                </a:solidFill>
                <a:latin typeface="Helvetica Neue"/>
              </a:rPr>
              <a:t>•  </a:t>
            </a:r>
            <a:r>
              <a:rPr sz="1650" b="1">
                <a:solidFill>
                  <a:srgbClr val="0F0F0F"/>
                </a:solidFill>
                <a:latin typeface="Helvetica Neue"/>
              </a:rPr>
              <a:t>2. Один skill на самую частую рутину. </a:t>
            </a:r>
            <a:r>
              <a:rPr sz="1650">
                <a:solidFill>
                  <a:srgbClr val="6E7379"/>
                </a:solidFill>
                <a:latin typeface="Helvetica Neue"/>
              </a:rPr>
              <a:t>Разработчику — merge request; QA — воспроизведение бага на устройстве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650" b="1">
                <a:solidFill>
                  <a:srgbClr val="406FE5"/>
                </a:solidFill>
                <a:latin typeface="Helvetica Neue"/>
              </a:rPr>
              <a:t>•  </a:t>
            </a:r>
            <a:r>
              <a:rPr sz="1650" b="1">
                <a:solidFill>
                  <a:srgbClr val="0F0F0F"/>
                </a:solidFill>
                <a:latin typeface="Helvetica Neue"/>
              </a:rPr>
              <a:t>3. WORKLOG.md. </a:t>
            </a:r>
            <a:r>
              <a:rPr sz="1650">
                <a:solidFill>
                  <a:srgbClr val="6E7379"/>
                </a:solidFill>
                <a:latin typeface="Helvetica Neue"/>
              </a:rPr>
              <a:t>Пять строк в конце сессии — завтра продолжаешь с места, а не сначала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650" b="1">
                <a:solidFill>
                  <a:srgbClr val="406FE5"/>
                </a:solidFill>
                <a:latin typeface="Helvetica Neue"/>
              </a:rPr>
              <a:t>•  </a:t>
            </a:r>
            <a:r>
              <a:rPr sz="1650" b="1">
                <a:solidFill>
                  <a:srgbClr val="0F0F0F"/>
                </a:solidFill>
                <a:latin typeface="Helvetica Neue"/>
              </a:rPr>
              <a:t>4. Ревью второй моделью </a:t>
            </a:r>
            <a:r>
              <a:rPr sz="1650">
                <a:solidFill>
                  <a:srgbClr val="6E7379"/>
                </a:solidFill>
                <a:latin typeface="Helvetica Neue"/>
              </a:rPr>
              <a:t>для крупных фич — когда первые три пункта приживутся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600">
                <a:solidFill>
                  <a:srgbClr val="0F0F0F"/>
                </a:solidFill>
                <a:latin typeface="Helvetica Neue"/>
              </a:rPr>
              <a:t>Не заводите всё сразу: каждый инструмент здесь появился как ответ на конкретную проблему, а не по каталогу.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411480"/>
            <a:ext cx="1248156" cy="384048"/>
          </a:xfrm>
          <a:prstGeom prst="roundRect">
            <a:avLst>
              <a:gd name="adj" fmla="val 50000"/>
            </a:avLst>
          </a:prstGeom>
          <a:solidFill>
            <a:srgbClr val="406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 Neue"/>
              </a:rPr>
              <a:t>вопросы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E7379"/>
                </a:solidFill>
                <a:latin typeface="Helvetica Neue"/>
              </a:rPr>
              <a:t>tez.taxi · AI workshop</a:t>
            </a:r>
            <a:r>
              <a:rPr sz="1000">
                <a:solidFill>
                  <a:srgbClr val="6E7379"/>
                </a:solidFill>
                <a:latin typeface="Helvetica Neue"/>
              </a:rPr>
              <a:t>    18 / 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4114800" cy="146304"/>
          </a:xfrm>
          <a:prstGeom prst="roundRect">
            <a:avLst>
              <a:gd name="adj" fmla="val 50000"/>
            </a:avLst>
          </a:prstGeom>
          <a:solidFill>
            <a:srgbClr val="FFC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000" b="1">
                <a:solidFill>
                  <a:srgbClr val="0F0F0F"/>
                </a:solidFill>
                <a:latin typeface="Helvetica Neue"/>
              </a:rPr>
              <a:t>Вопросы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49039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600" b="1">
                <a:solidFill>
                  <a:srgbClr val="406FE5"/>
                </a:solidFill>
                <a:latin typeface="Helvetica Neue"/>
              </a:rPr>
              <a:t>•  </a:t>
            </a:r>
            <a:r>
              <a:rPr sz="1600" b="1">
                <a:solidFill>
                  <a:srgbClr val="0F0F0F"/>
                </a:solidFill>
                <a:latin typeface="Helvetica Neue"/>
              </a:rPr>
              <a:t>Ядро фичи: </a:t>
            </a:r>
            <a:r>
              <a:rPr sz="1600">
                <a:solidFill>
                  <a:srgbClr val="6E7379"/>
                </a:solidFill>
                <a:latin typeface="Helvetica Neue"/>
              </a:rPr>
              <a:t>github.com/Ruslan660/team_logger — pull request #1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600" b="1">
                <a:solidFill>
                  <a:srgbClr val="406FE5"/>
                </a:solidFill>
                <a:latin typeface="Helvetica Neue"/>
              </a:rPr>
              <a:t>•  </a:t>
            </a:r>
            <a:r>
              <a:rPr sz="1600" b="1">
                <a:solidFill>
                  <a:srgbClr val="0F0F0F"/>
                </a:solidFill>
                <a:latin typeface="Helvetica Neue"/>
              </a:rPr>
              <a:t>Flutter-часть и спецификация: </a:t>
            </a:r>
            <a:r>
              <a:rPr sz="1600">
                <a:solidFill>
                  <a:srgbClr val="6E7379"/>
                </a:solidFill>
                <a:latin typeface="Helvetica Neue"/>
              </a:rPr>
              <a:t>github.com/Ruslan660/flutter_team_logger — pull request #1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600" b="1">
                <a:solidFill>
                  <a:srgbClr val="406FE5"/>
                </a:solidFill>
                <a:latin typeface="Helvetica Neue"/>
              </a:rPr>
              <a:t>•  </a:t>
            </a:r>
            <a:r>
              <a:rPr sz="1600" b="1">
                <a:solidFill>
                  <a:srgbClr val="0F0F0F"/>
                </a:solidFill>
                <a:latin typeface="Helvetica Neue"/>
              </a:rPr>
              <a:t>Материалы: </a:t>
            </a:r>
            <a:r>
              <a:rPr sz="1600">
                <a:solidFill>
                  <a:srgbClr val="6E7379"/>
                </a:solidFill>
                <a:latin typeface="Helvetica Neue"/>
              </a:rPr>
              <a:t>docs/specs, docs/plans и эти слайды — в репозитории воркшопа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