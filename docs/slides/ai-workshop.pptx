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{"seq":1,"lvl":</a:t>
            </a:r>
            <a:r>
              <a:rPr sz="1200">
                <a:solidFill>
                  <a:srgbClr val="97B877"/>
                </a:solidFill>
                <a:latin typeface="Menlo"/>
              </a:rPr>
              <a:t>"session"</a:t>
            </a:r>
            <a:r>
              <a:rPr sz="1200">
                <a:solidFill>
                  <a:srgbClr val="8B95A7"/>
                </a:solidFill>
                <a:latin typeface="Menlo"/>
              </a:rPr>
              <a:t>,"path":"workshop.start"}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tlog_20260723_workshop_p01.jsonl</a:t>
            </a:r>
            <a:r>
              <a:rPr sz="1000">
                <a:solidFill>
                  <a:srgbClr val="26324A"/>
                </a:solidFill>
                <a:latin typeface="Menlo"/>
              </a:rPr>
              <a:t>   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9E4D6"/>
                </a:solidFill>
                <a:latin typeface="Menlo"/>
              </a:rPr>
              <a:t>Как я работаю
</a:t>
            </a:r>
          </a:p>
          <a:p>
            <a:r>
              <a:rPr sz="5400" b="1">
                <a:solidFill>
                  <a:srgbClr val="E9E4D6"/>
                </a:solidFill>
                <a:latin typeface="Menlo"/>
              </a:rPr>
              <a:t>с </a:t>
            </a:r>
            <a:r>
              <a:rPr sz="5400" b="1">
                <a:solidFill>
                  <a:srgbClr val="E8A33D"/>
                </a:solidFill>
                <a:latin typeface="Menlo"/>
              </a:rPr>
              <a:t>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177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8B95A7"/>
                </a:solidFill>
                <a:latin typeface="Helvetica Neue"/>
              </a:rPr>
              <a:t>Контекст, скиллы, агенты и одна фича, которая вчера вечером прошла путь от спеки до двух pull request'ов.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B95A7"/>
                </a:solidFill>
                <a:latin typeface="Menlo"/>
              </a:rPr>
              <a:t>Ruslan · tez.taxi mobile · 23.07.2026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{"seq":2,"lvl":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,"path":"workshop.plan"}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tlog_20260723_workshop_p02.jsonl</a:t>
            </a:r>
            <a:r>
              <a:rPr sz="1000">
                <a:solidFill>
                  <a:srgbClr val="26324A"/>
                </a:solidFill>
                <a:latin typeface="Menlo"/>
              </a:rPr>
              <a:t>   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О </a:t>
            </a:r>
            <a:r>
              <a:rPr sz="3600" b="1">
                <a:solidFill>
                  <a:srgbClr val="E9E4D6"/>
                </a:solidFill>
                <a:latin typeface="Menlo"/>
              </a:rPr>
              <a:t>чём </a:t>
            </a:r>
            <a:r>
              <a:rPr sz="3600" b="1">
                <a:solidFill>
                  <a:srgbClr val="E9E4D6"/>
                </a:solidFill>
                <a:latin typeface="Menlo"/>
              </a:rPr>
              <a:t>поговорим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Контекст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что модель видит, а что для неё не существует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CLAUDE.md / AGENTS.md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инструкции, которые читаются всегда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MD-файлы как память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worklog, хэндоффы, факты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Скиллы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как повторяемый флоу становится плейбуком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MCP против скилла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доступ к системе или знание процесса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Плагины, хуки, агенты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что автоматизируем и кому делегируем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Живой кейс </a:t>
            </a:r>
            <a:r>
              <a:rPr sz="1800">
                <a:solidFill>
                  <a:srgbClr val="8B95A7"/>
                </a:solidFill>
                <a:latin typeface="Helvetica Neue"/>
              </a:rPr>
              <a:t>— session file logs по SDD, со всеми граблями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{"seq":3,"lvl":</a:t>
            </a:r>
            <a:r>
              <a:rPr sz="1200">
                <a:solidFill>
                  <a:srgbClr val="E8A33D"/>
                </a:solidFill>
                <a:latin typeface="Menlo"/>
              </a:rPr>
              <a:t>"warn"</a:t>
            </a:r>
            <a:r>
              <a:rPr sz="1200">
                <a:solidFill>
                  <a:srgbClr val="8B95A7"/>
                </a:solidFill>
                <a:latin typeface="Menlo"/>
              </a:rPr>
              <a:t>,"path":"basics.context"}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tlog_20260723_workshop_p03.jsonl</a:t>
            </a:r>
            <a:r>
              <a:rPr sz="1000">
                <a:solidFill>
                  <a:srgbClr val="26324A"/>
                </a:solidFill>
                <a:latin typeface="Menlo"/>
              </a:rPr>
              <a:t>   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Контекст </a:t>
            </a:r>
            <a:r>
              <a:rPr sz="3600" b="1">
                <a:solidFill>
                  <a:srgbClr val="E9E4D6"/>
                </a:solidFill>
                <a:latin typeface="Menlo"/>
              </a:rPr>
              <a:t>— </a:t>
            </a:r>
            <a:r>
              <a:rPr sz="3600" b="1">
                <a:solidFill>
                  <a:srgbClr val="E9E4D6"/>
                </a:solidFill>
                <a:latin typeface="Menlo"/>
              </a:rPr>
              <a:t>это </a:t>
            </a:r>
            <a:r>
              <a:rPr sz="3600" b="1">
                <a:solidFill>
                  <a:srgbClr val="E8A33D"/>
                </a:solidFill>
                <a:latin typeface="Menlo"/>
              </a:rPr>
              <a:t>бюджет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E9E4D6"/>
                </a:solidFill>
                <a:latin typeface="Helvetica Neue"/>
              </a:rPr>
              <a:t>У модели нет памяти. Есть окно контекста, порядка 200 тысяч токенов, и в него входит всё: системный промпт, CLAUDE.md, история диалога, вывод каждой команды. Чего нет в окне — того для модели не существует.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E9E4D6"/>
                </a:solidFill>
                <a:latin typeface="Helvetica Neue"/>
              </a:rPr>
              <a:t>Когда сессия разрастается, старое суммаризируется. Детали теряются, и модель начинает уверенно врать про то, что «помнит». Поэтому контекст я трачу как деньги: на задачу, а не на мусор.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E9E4D6"/>
                </a:solidFill>
                <a:latin typeface="Helvetica Neue"/>
              </a:rPr>
              <a:t>Пример экономии: хук rtk перехватывает git, grep и ls и отдаёт модели сжатый вывод. На длинной сессии это 60–90% сэкономленных токенов — буквально больше места для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{"seq":4,"lvl":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,"path":"basics.claude_md"}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tlog_20260723_workshop_p04.jsonl</a:t>
            </a:r>
            <a:r>
              <a:rPr sz="1000">
                <a:solidFill>
                  <a:srgbClr val="26324A"/>
                </a:solidFill>
                <a:latin typeface="Menlo"/>
              </a:rPr>
              <a:t>   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CLAUDE.md </a:t>
            </a:r>
            <a:r>
              <a:rPr sz="3600" b="1">
                <a:solidFill>
                  <a:srgbClr val="E9E4D6"/>
                </a:solidFill>
                <a:latin typeface="Menlo"/>
              </a:rPr>
              <a:t>и </a:t>
            </a:r>
            <a:r>
              <a:rPr sz="3600" b="1">
                <a:solidFill>
                  <a:srgbClr val="E9E4D6"/>
                </a:solidFill>
                <a:latin typeface="Menlo"/>
              </a:rPr>
              <a:t>AGENTS.md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Файлы, которые агент читает в начале каждой сессии. Глобальный ~/.claude/CLAUDE.md — личные правила. В репозитории — CLAUDE.md, импортирующий AGENTS.md: общий для Claude Code и Codex, оба агента живут по одним правилам.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10881360" cy="2011680"/>
          </a:xfrm>
          <a:prstGeom prst="rect">
            <a:avLst/>
          </a:prstGeom>
          <a:solidFill>
            <a:srgbClr val="161F30"/>
          </a:solidFill>
          <a:ln w="9525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64592"/>
          <a:lstStyle/>
          <a:p>
            <a:pPr algn="l"/>
            <a:r>
              <a:rPr sz="1300">
                <a:solidFill>
                  <a:srgbClr val="8B95A7"/>
                </a:solidFill>
                <a:latin typeface="Menlo"/>
              </a:rPr>
              <a:t># AGENTS.md — что туда попадает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toolchain: fvm, melos, Java 17          # нужно каждой сессии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правила: коммиты только по команде      # защита от самодеятельности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ключи 2GIS: проверка перед сборкой      # инцидент 2026-07-10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роутинг: «для UI читай DESIGN.md»       # ссылка вместо простыни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Принцип — progressive disclosure: в always-loaded файле правила и ссылки, тяжёлые документы читаются только когда задача их касается.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{"seq":5,"lvl":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,"path":"basics.md_memory"}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tlog_20260723_workshop_p05.jsonl</a:t>
            </a:r>
            <a:r>
              <a:rPr sz="1000">
                <a:solidFill>
                  <a:srgbClr val="26324A"/>
                </a:solidFill>
                <a:latin typeface="Menlo"/>
              </a:rPr>
              <a:t>   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MD-файлы </a:t>
            </a:r>
            <a:r>
              <a:rPr sz="3600" b="1">
                <a:solidFill>
                  <a:srgbClr val="E9E4D6"/>
                </a:solidFill>
                <a:latin typeface="Menlo"/>
              </a:rPr>
              <a:t>как </a:t>
            </a:r>
            <a:r>
              <a:rPr sz="3600" b="1">
                <a:solidFill>
                  <a:srgbClr val="E9E4D6"/>
                </a:solidFill>
                <a:latin typeface="Menlo"/>
              </a:rPr>
              <a:t>память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8B95A7"/>
                          </a:solidFill>
                          <a:latin typeface="Menlo"/>
                        </a:rPr>
                        <a:t>файл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8B95A7"/>
                          </a:solidFill>
                          <a:latin typeface="Helvetica Neue"/>
                        </a:rPr>
                        <a:t>зачем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WORKLOG.md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журнал сессий: что сделано, что осталось, грабли. Читается в начале, пополняется в конце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HANDOFF-*.md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передача задачи между сессиями: новая стартует с выводов, а не с археологии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memory/*.md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долговременные факты: один файл — один факт, плюс индекс MEMORY.md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docs/adr/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архитектурные решения с обоснованием, чтобы не спорить заново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Всё это — обычный markdown в git. Его читают три стороны: Claude, Codex и 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{"seq":6,"lvl":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,"path":"skills.what"}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tlog_20260723_workshop_p06.jsonl</a:t>
            </a:r>
            <a:r>
              <a:rPr sz="1000">
                <a:solidFill>
                  <a:srgbClr val="26324A"/>
                </a:solidFill>
                <a:latin typeface="Menlo"/>
              </a:rPr>
              <a:t>   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4D6"/>
                </a:solidFill>
                <a:latin typeface="Menlo"/>
              </a:rPr>
              <a:t>Скилл </a:t>
            </a:r>
            <a:r>
              <a:rPr sz="3400" b="1">
                <a:solidFill>
                  <a:srgbClr val="E9E4D6"/>
                </a:solidFill>
                <a:latin typeface="Menlo"/>
              </a:rPr>
              <a:t>— </a:t>
            </a:r>
            <a:r>
              <a:rPr sz="3400" b="1">
                <a:solidFill>
                  <a:srgbClr val="E9E4D6"/>
                </a:solidFill>
                <a:latin typeface="Menlo"/>
              </a:rPr>
              <a:t>это </a:t>
            </a:r>
            <a:r>
              <a:rPr sz="3400" b="1">
                <a:solidFill>
                  <a:srgbClr val="E9E4D6"/>
                </a:solidFill>
                <a:latin typeface="Menlo"/>
              </a:rPr>
              <a:t>плейбук </a:t>
            </a:r>
            <a:r>
              <a:rPr sz="3400" b="1">
                <a:solidFill>
                  <a:srgbClr val="E9E4D6"/>
                </a:solidFill>
                <a:latin typeface="Menlo"/>
              </a:rPr>
              <a:t>с </a:t>
            </a:r>
            <a:r>
              <a:rPr sz="3400" b="1">
                <a:solidFill>
                  <a:srgbClr val="E9E4D6"/>
                </a:solidFill>
                <a:latin typeface="Menlo"/>
              </a:rPr>
              <a:t>триггером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SKILL.md: описание-триггер модель видит всегда, тело с командами читает только при совпадении задачи. Сотня скиллов почти ничего не стоит, пока не понадобилась.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88036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8B95A7"/>
                          </a:solidFill>
                          <a:latin typeface="Menlo"/>
                        </a:rPr>
                        <a:t>мой скилл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8B95A7"/>
                          </a:solidFill>
                          <a:latin typeface="Helvetica Neue"/>
                        </a:rPr>
                        <a:t>что автоматизирует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teztaxi-gitlab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MR, пайплайны, мердж через glab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run-app-ios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запуск client/driver на симуляторе, с подменой ключей карт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teztaxi-debug-harness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репро багов: фейковый заказ, логгеры, adb/idb, жесты карты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teztaxi-mr-review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ревью чужого MR по чек-листу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teztaxi-daily-report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дневной отчёт «кто что делал»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{"seq":7,"lvl":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,"path":"skills.how"}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tlog_20260723_workshop_p07.jsonl</a:t>
            </a:r>
            <a:r>
              <a:rPr sz="1000">
                <a:solidFill>
                  <a:srgbClr val="26324A"/>
                </a:solidFill>
                <a:latin typeface="Menlo"/>
              </a:rPr>
              <a:t>   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Как </a:t>
            </a:r>
            <a:r>
              <a:rPr sz="3600" b="1">
                <a:solidFill>
                  <a:srgbClr val="E9E4D6"/>
                </a:solidFill>
                <a:latin typeface="Menlo"/>
              </a:rPr>
              <a:t>рождается </a:t>
            </a:r>
            <a:r>
              <a:rPr sz="3600" b="1">
                <a:solidFill>
                  <a:srgbClr val="E9E4D6"/>
                </a:solidFill>
                <a:latin typeface="Menlo"/>
              </a:rPr>
              <a:t>скилл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>
                <a:solidFill>
                  <a:srgbClr val="8B95A7"/>
                </a:solidFill>
                <a:latin typeface="Helvetica Neue"/>
              </a:rPr>
              <a:t>Делаю флоу руками. Второй раз. Третий — и это уже сигнал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>
                <a:solidFill>
                  <a:srgbClr val="8B95A7"/>
                </a:solidFill>
                <a:latin typeface="Helvetica Neue"/>
              </a:rPr>
              <a:t>Прошу Claude оформить прошедшую сессию в SKILL.md: он помнит команды и грабли лучше меня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>
                <a:solidFill>
                  <a:srgbClr val="8B95A7"/>
                </a:solidFill>
                <a:latin typeface="Helvetica Neue"/>
              </a:rPr>
              <a:t>Правлю руками две вещи: триггер (когда срабатывать) и антипаттерны (чего не делать)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>
                <a:solidFill>
                  <a:srgbClr val="8B95A7"/>
                </a:solidFill>
                <a:latin typeface="Helvetica Neue"/>
              </a:rPr>
              <a:t>Кладу в git. Наступили на новые грабли — дописали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Хороший скилл: точный триггер, конкретные команды, явный список ошибок. Плохой скилл — статья. Хороший — инструкция по сборке.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{"seq":8,"lvl":</a:t>
            </a:r>
            <a:r>
              <a:rPr sz="1200">
                <a:solidFill>
                  <a:srgbClr val="E8A33D"/>
                </a:solidFill>
                <a:latin typeface="Menlo"/>
              </a:rPr>
              <a:t>"warn"</a:t>
            </a:r>
            <a:r>
              <a:rPr sz="1200">
                <a:solidFill>
                  <a:srgbClr val="8B95A7"/>
                </a:solidFill>
                <a:latin typeface="Menlo"/>
              </a:rPr>
              <a:t>,"path":"skills.vs_mcp"}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tlog_20260723_workshop_p08.jsonl</a:t>
            </a:r>
            <a:r>
              <a:rPr sz="1000">
                <a:solidFill>
                  <a:srgbClr val="26324A"/>
                </a:solidFill>
                <a:latin typeface="Menlo"/>
              </a:rPr>
              <a:t>   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MCP </a:t>
            </a:r>
            <a:r>
              <a:rPr sz="3600" b="1">
                <a:solidFill>
                  <a:srgbClr val="E9E4D6"/>
                </a:solidFill>
                <a:latin typeface="Menlo"/>
              </a:rPr>
              <a:t>или </a:t>
            </a:r>
            <a:r>
              <a:rPr sz="3600" b="1">
                <a:solidFill>
                  <a:srgbClr val="E9E4D6"/>
                </a:solidFill>
                <a:latin typeface="Menlo"/>
              </a:rPr>
              <a:t>скилл?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FB4C9"/>
                </a:solidFill>
                <a:latin typeface="Menlo"/>
              </a:rPr>
              <a:t>MCP-сервер = доступ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7FB4C9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инструменты и данные: живой процесс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7FB4C9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dcm — статический анализ Dart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7FB4C9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context7 — актуальные доки библиотек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7FB4C9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когда надо дёргать систему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8A33D"/>
                </a:solidFill>
                <a:latin typeface="Menlo"/>
              </a:rPr>
              <a:t>Скилл = знание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текст в git, ноль рантайма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порядок действий, команды, чек-листы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версионируется и ревьюится как код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>
                <a:solidFill>
                  <a:srgbClr val="E9E4D6"/>
                </a:solidFill>
                <a:latin typeface="Helvetica Neue"/>
              </a:rPr>
              <a:t>дешевле по токенам и поддержке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Нужен доступ к API — MCP. Нужен порядок действий — скилл. Сомневаетесь — начните со скилла: чаще всего его хватает.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{"seq":9,"lvl":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,"path":"plugins"}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tlog_20260723_workshop_p09.jsonl</a:t>
            </a:r>
            <a:r>
              <a:rPr sz="1000">
                <a:solidFill>
                  <a:srgbClr val="26324A"/>
                </a:solidFill>
                <a:latin typeface="Menlo"/>
              </a:rPr>
              <a:t>   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4D6"/>
                </a:solidFill>
                <a:latin typeface="Menlo"/>
              </a:rPr>
              <a:t>Плагины: </a:t>
            </a:r>
            <a:r>
              <a:rPr sz="3400" b="1">
                <a:solidFill>
                  <a:srgbClr val="E9E4D6"/>
                </a:solidFill>
                <a:latin typeface="Menlo"/>
              </a:rPr>
              <a:t>чужой </a:t>
            </a:r>
            <a:r>
              <a:rPr sz="3400" b="1">
                <a:solidFill>
                  <a:srgbClr val="E9E4D6"/>
                </a:solidFill>
                <a:latin typeface="Menlo"/>
              </a:rPr>
              <a:t>опыт </a:t>
            </a:r>
            <a:r>
              <a:rPr sz="3400" b="1">
                <a:solidFill>
                  <a:srgbClr val="E9E4D6"/>
                </a:solidFill>
                <a:latin typeface="Menlo"/>
              </a:rPr>
              <a:t>в </a:t>
            </a:r>
            <a:r>
              <a:rPr sz="3400" b="1">
                <a:solidFill>
                  <a:srgbClr val="E9E4D6"/>
                </a:solidFill>
                <a:latin typeface="Menlo"/>
              </a:rPr>
              <a:t>коробке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8B95A7"/>
                          </a:solidFill>
                          <a:latin typeface="Menlo"/>
                        </a:rPr>
                        <a:t>плагин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8B95A7"/>
                          </a:solidFill>
                          <a:latin typeface="Helvetica Neue"/>
                        </a:rPr>
                        <a:t>что даёт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superpowers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дисциплина процесса: brainstorming перед дизайном, TDD, планы. Не даёт кинуться писать код раньше спеки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codex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мост ко второй модели: Codex ревьюит спеки и код Claude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humanizer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вычищает ИИ-штампы: доки читаются как написанные человеком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claude-mem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автоматическая память и поиск по прошлым сессиям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7FB4C9"/>
                          </a:solidFill>
                          <a:latin typeface="Menlo"/>
                        </a:rPr>
                        <a:t>caveman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9E4D6"/>
                          </a:solidFill>
                          <a:latin typeface="Helvetica Neue"/>
                        </a:rPr>
                        <a:t>сжатые ответы без воды, заодно экономит токены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Плагин — набор скиллов, агентов и хуков. Ставится один раз, работает во всех проектах.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{"seq":10,"lvl":</a:t>
            </a:r>
            <a:r>
              <a:rPr sz="1200">
                <a:solidFill>
                  <a:srgbClr val="E8A33D"/>
                </a:solidFill>
                <a:latin typeface="Menlo"/>
              </a:rPr>
              <a:t>"warn"</a:t>
            </a:r>
            <a:r>
              <a:rPr sz="1200">
                <a:solidFill>
                  <a:srgbClr val="8B95A7"/>
                </a:solidFill>
                <a:latin typeface="Menlo"/>
              </a:rPr>
              <a:t>,"path":"hooks"}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tlog_20260723_workshop_p10.jsonl</a:t>
            </a:r>
            <a:r>
              <a:rPr sz="1000">
                <a:solidFill>
                  <a:srgbClr val="26324A"/>
                </a:solidFill>
                <a:latin typeface="Menlo"/>
              </a:rPr>
              <a:t>   10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4D6"/>
                </a:solidFill>
                <a:latin typeface="Menlo"/>
              </a:rPr>
              <a:t>Хуки: </a:t>
            </a:r>
            <a:r>
              <a:rPr sz="3400" b="1">
                <a:solidFill>
                  <a:srgbClr val="E9E4D6"/>
                </a:solidFill>
                <a:latin typeface="Menlo"/>
              </a:rPr>
              <a:t>автоматика </a:t>
            </a:r>
            <a:r>
              <a:rPr sz="3400" b="1">
                <a:solidFill>
                  <a:srgbClr val="E9E4D6"/>
                </a:solidFill>
                <a:latin typeface="Menlo"/>
              </a:rPr>
              <a:t>вне </a:t>
            </a:r>
            <a:r>
              <a:rPr sz="3400" b="1">
                <a:solidFill>
                  <a:srgbClr val="E9E4D6"/>
                </a:solidFill>
                <a:latin typeface="Menlo"/>
              </a:rPr>
              <a:t>воли </a:t>
            </a:r>
            <a:r>
              <a:rPr sz="3400" b="1">
                <a:solidFill>
                  <a:srgbClr val="E9E4D6"/>
                </a:solidFill>
                <a:latin typeface="Menlo"/>
              </a:rPr>
              <a:t>модели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Просьба «всегда делай так» живёт до первой суммаризации контекста. Хук — код, который срабатывает сам: модель не может его забыть или проигнорировать.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10881360" cy="1389888"/>
          </a:xfrm>
          <a:prstGeom prst="rect">
            <a:avLst/>
          </a:prstGeom>
          <a:solidFill>
            <a:srgbClr val="161F30"/>
          </a:solidFill>
          <a:ln w="9525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64592"/>
          <a:lstStyle/>
          <a:p>
            <a:pPr algn="l"/>
            <a:r>
              <a:rPr sz="1400">
                <a:solidFill>
                  <a:srgbClr val="E9E4D6"/>
                </a:solidFill>
                <a:latin typeface="Menlo"/>
              </a:rPr>
              <a:t>git status  → rtk git status    # тот же смысл, меньше токенов</a:t>
            </a:r>
          </a:p>
          <a:p>
            <a:pPr algn="l"/>
            <a:r>
              <a:rPr sz="1400">
                <a:solidFill>
                  <a:srgbClr val="E9E4D6"/>
                </a:solidFill>
                <a:latin typeface="Menlo"/>
              </a:rPr>
              <a:t>SessionStart → caveman on       # стиль ответов включён всегда</a:t>
            </a:r>
          </a:p>
          <a:p>
            <a:pPr algn="l"/>
            <a:r>
              <a:rPr sz="1400">
                <a:solidFill>
                  <a:srgbClr val="E9E4D6"/>
                </a:solidFill>
                <a:latin typeface="Menlo"/>
              </a:rPr>
              <a:t>PreToolUse   → проверка правил  # запреты, которые не обсуждаются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Поведение должно быть гарантированным — значит это хук, а не строчка в промпте.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{"seq":11,"lvl":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,"path":"agents"}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tlog_20260723_workshop_p11.jsonl</a:t>
            </a:r>
            <a:r>
              <a:rPr sz="1000">
                <a:solidFill>
                  <a:srgbClr val="26324A"/>
                </a:solidFill>
                <a:latin typeface="Menlo"/>
              </a:rPr>
              <a:t>   11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4D6"/>
                </a:solidFill>
                <a:latin typeface="Menlo"/>
              </a:rPr>
              <a:t>Агенты: </a:t>
            </a:r>
            <a:r>
              <a:rPr sz="3400" b="1">
                <a:solidFill>
                  <a:srgbClr val="E9E4D6"/>
                </a:solidFill>
                <a:latin typeface="Menlo"/>
              </a:rPr>
              <a:t>свежая </a:t>
            </a:r>
            <a:r>
              <a:rPr sz="3400" b="1">
                <a:solidFill>
                  <a:srgbClr val="E9E4D6"/>
                </a:solidFill>
                <a:latin typeface="Menlo"/>
              </a:rPr>
              <a:t>голова </a:t>
            </a:r>
            <a:r>
              <a:rPr sz="3400" b="1">
                <a:solidFill>
                  <a:srgbClr val="E9E4D6"/>
                </a:solidFill>
                <a:latin typeface="Menlo"/>
              </a:rPr>
              <a:t>под </a:t>
            </a:r>
            <a:r>
              <a:rPr sz="3400" b="1">
                <a:solidFill>
                  <a:srgbClr val="E9E4D6"/>
                </a:solidFill>
                <a:latin typeface="Menlo"/>
              </a:rPr>
              <a:t>задачу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Субагент — отдельное окно контекста. Главный тред держит задачу целиком, субагенты делают грязную работу и возвращают короткий отчёт, а не тонну прочитанных файлов.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Explore </a:t>
            </a:r>
            <a:r>
              <a:rPr sz="1700">
                <a:solidFill>
                  <a:srgbClr val="8B95A7"/>
                </a:solidFill>
                <a:latin typeface="Helvetica Neue"/>
              </a:rPr>
              <a:t>— прочесать кодовую базу; моё окно остаётся чистым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Plan </a:t>
            </a:r>
            <a:r>
              <a:rPr sz="1700">
                <a:solidFill>
                  <a:srgbClr val="8B95A7"/>
                </a:solidFill>
                <a:latin typeface="Helvetica Neue"/>
              </a:rPr>
              <a:t>— архитектурный план до того, как трогаем код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Доменные агенты </a:t>
            </a:r>
            <a:r>
              <a:rPr sz="1700">
                <a:solidFill>
                  <a:srgbClr val="8B95A7"/>
                </a:solidFill>
                <a:latin typeface="Helvetica Neue"/>
              </a:rPr>
              <a:t>— по фичам приложения, каждый знает свой кусок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Параллельность </a:t>
            </a:r>
            <a:r>
              <a:rPr sz="1700">
                <a:solidFill>
                  <a:srgbClr val="8B95A7"/>
                </a:solidFill>
                <a:latin typeface="Helvetica Neue"/>
              </a:rPr>
              <a:t>— три независимых поиска бегут одновременно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Правило оркестрации: делегируй вывод, а не решение. Решения принимает тред, у которого весь контекст задачи.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{"seq":12,"lvl":</a:t>
            </a:r>
            <a:r>
              <a:rPr sz="1200">
                <a:solidFill>
                  <a:srgbClr val="D96A5B"/>
                </a:solidFill>
                <a:latin typeface="Menlo"/>
              </a:rPr>
              <a:t>"error"</a:t>
            </a:r>
            <a:r>
              <a:rPr sz="1200">
                <a:solidFill>
                  <a:srgbClr val="8B95A7"/>
                </a:solidFill>
                <a:latin typeface="Menlo"/>
              </a:rPr>
              <a:t>,"path":"agents.cross_model"}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tlog_20260723_workshop_p12.jsonl</a:t>
            </a:r>
            <a:r>
              <a:rPr sz="1000">
                <a:solidFill>
                  <a:srgbClr val="26324A"/>
                </a:solidFill>
                <a:latin typeface="Menlo"/>
              </a:rPr>
              <a:t>   12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4D6"/>
                </a:solidFill>
                <a:latin typeface="Menlo"/>
              </a:rPr>
              <a:t>Вторая </a:t>
            </a:r>
            <a:r>
              <a:rPr sz="3400" b="1">
                <a:solidFill>
                  <a:srgbClr val="E9E4D6"/>
                </a:solidFill>
                <a:latin typeface="Menlo"/>
              </a:rPr>
              <a:t>модель </a:t>
            </a:r>
            <a:r>
              <a:rPr sz="3400" b="1">
                <a:solidFill>
                  <a:srgbClr val="E9E4D6"/>
                </a:solidFill>
                <a:latin typeface="Menlo"/>
              </a:rPr>
              <a:t>как </a:t>
            </a:r>
            <a:r>
              <a:rPr sz="3400" b="1">
                <a:solidFill>
                  <a:srgbClr val="E9E4D6"/>
                </a:solidFill>
                <a:latin typeface="Menlo"/>
              </a:rPr>
              <a:t>ревьюер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Вчера Codex ревьюил спеку и код фичи, которую писал Claude. Результат: два P0 и восемь P1.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 b="1">
                <a:solidFill>
                  <a:srgbClr val="E9E4D6"/>
                </a:solidFill>
                <a:latin typeface="Helvetica Neue"/>
              </a:rPr>
              <a:t>P0: </a:t>
            </a:r>
            <a:r>
              <a:rPr sz="1600">
                <a:solidFill>
                  <a:srgbClr val="8B95A7"/>
                </a:solidFill>
                <a:latin typeface="Helvetica Neue"/>
              </a:rPr>
              <a:t>flush() не был безопасным барьером — гонка над RandomAccessFile, который запрещает параллельные вызовы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 b="1">
                <a:solidFill>
                  <a:srgbClr val="E9E4D6"/>
                </a:solidFill>
                <a:latin typeface="Helvetica Neue"/>
              </a:rPr>
              <a:t>P0: </a:t>
            </a:r>
            <a:r>
              <a:rPr sz="1600">
                <a:solidFill>
                  <a:srgbClr val="8B95A7"/>
                </a:solidFill>
                <a:latin typeface="Helvetica Neue"/>
              </a:rPr>
              <a:t>выгрузка отдавала живые файлы: ротация могла удалить файл во время аплоада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A33D"/>
                </a:solidFill>
                <a:latin typeface="Menlo"/>
              </a:rPr>
              <a:t>&gt; </a:t>
            </a:r>
            <a:r>
              <a:rPr sz="1600" b="1">
                <a:solidFill>
                  <a:srgbClr val="E9E4D6"/>
                </a:solidFill>
                <a:latin typeface="Helvetica Neue"/>
              </a:rPr>
              <a:t>P1: </a:t>
            </a:r>
            <a:r>
              <a:rPr sz="1600">
                <a:solidFill>
                  <a:srgbClr val="8B95A7"/>
                </a:solidFill>
                <a:latin typeface="Helvetica Neue"/>
              </a:rPr>
              <a:t>после чанка p99 файлы не парсились; циклический data отключал storage; dart:io в главном entrypoint ломал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У разных моделей разные слепые зоны. Перекрёстное ревью стоит десять минут и дешевле любого продакшн-инцидента.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{"seq":13,"lvl":</a:t>
            </a:r>
            <a:r>
              <a:rPr sz="1200">
                <a:solidFill>
                  <a:srgbClr val="E8A33D"/>
                </a:solidFill>
                <a:latin typeface="Menlo"/>
              </a:rPr>
              <a:t>"warn"</a:t>
            </a:r>
            <a:r>
              <a:rPr sz="1200">
                <a:solidFill>
                  <a:srgbClr val="8B95A7"/>
                </a:solidFill>
                <a:latin typeface="Menlo"/>
              </a:rPr>
              <a:t>,"path":"handoffs"}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tlog_20260723_workshop_p13.jsonl</a:t>
            </a:r>
            <a:r>
              <a:rPr sz="1000">
                <a:solidFill>
                  <a:srgbClr val="26324A"/>
                </a:solidFill>
                <a:latin typeface="Menlo"/>
              </a:rPr>
              <a:t>   13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Хэндоффы: </a:t>
            </a:r>
            <a:r>
              <a:rPr sz="3600" b="1">
                <a:solidFill>
                  <a:srgbClr val="E9E4D6"/>
                </a:solidFill>
                <a:latin typeface="Menlo"/>
              </a:rPr>
              <a:t>сессия </a:t>
            </a:r>
            <a:r>
              <a:rPr sz="3600" b="1">
                <a:solidFill>
                  <a:srgbClr val="E9E4D6"/>
                </a:solidFill>
                <a:latin typeface="Menlo"/>
              </a:rPr>
              <a:t>конечна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E9E4D6"/>
                </a:solidFill>
                <a:latin typeface="Helvetica Neue"/>
              </a:rPr>
              <a:t>Любая сессия упирается в лимит контекста. Заканчиваю большую работу — прошу агента написать HANDOFF: что сделано, что осталось, какие грабли уже найдены. Следующая сессия читает три абзаца и продолжает с места.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E9E4D6"/>
                </a:solidFill>
                <a:latin typeface="Helvetica Neue"/>
              </a:rPr>
              <a:t>То же между агентами: Claude оставляет хэндофф, Codex подхватывает. Формат один — markdown в репозитории.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E9E4D6"/>
                </a:solidFill>
                <a:latin typeface="Helvetica Neue"/>
              </a:rPr>
              <a:t>Главное правило: переносим выводы, не переписку. Хэндофф на страницу полезнее лога на мегабайт.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{"seq":14,"lvl":</a:t>
            </a:r>
            <a:r>
              <a:rPr sz="1200">
                <a:solidFill>
                  <a:srgbClr val="97B877"/>
                </a:solidFill>
                <a:latin typeface="Menlo"/>
              </a:rPr>
              <a:t>"case"</a:t>
            </a:r>
            <a:r>
              <a:rPr sz="1200">
                <a:solidFill>
                  <a:srgbClr val="8B95A7"/>
                </a:solidFill>
                <a:latin typeface="Menlo"/>
              </a:rPr>
              <a:t>,"path":"case.sdd"}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tlog_20260723_workshop_p14.jsonl</a:t>
            </a:r>
            <a:r>
              <a:rPr sz="1000">
                <a:solidFill>
                  <a:srgbClr val="26324A"/>
                </a:solidFill>
                <a:latin typeface="Menlo"/>
              </a:rPr>
              <a:t>   14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4D6"/>
                </a:solidFill>
                <a:latin typeface="Menlo"/>
              </a:rPr>
              <a:t>Кейс: </a:t>
            </a:r>
            <a:r>
              <a:rPr sz="3200" b="1">
                <a:solidFill>
                  <a:srgbClr val="E9E4D6"/>
                </a:solidFill>
                <a:latin typeface="Menlo"/>
              </a:rPr>
              <a:t>session </a:t>
            </a:r>
            <a:r>
              <a:rPr sz="3200" b="1">
                <a:solidFill>
                  <a:srgbClr val="E9E4D6"/>
                </a:solidFill>
                <a:latin typeface="Menlo"/>
              </a:rPr>
              <a:t>file </a:t>
            </a:r>
            <a:r>
              <a:rPr sz="3200" b="1">
                <a:solidFill>
                  <a:srgbClr val="E9E4D6"/>
                </a:solidFill>
                <a:latin typeface="Menlo"/>
              </a:rPr>
              <a:t>logs </a:t>
            </a:r>
            <a:r>
              <a:rPr sz="3200" b="1">
                <a:solidFill>
                  <a:srgbClr val="E9E4D6"/>
                </a:solidFill>
                <a:latin typeface="Menlo"/>
              </a:rPr>
              <a:t>за </a:t>
            </a:r>
            <a:r>
              <a:rPr sz="3200" b="1">
                <a:solidFill>
                  <a:srgbClr val="E9E4D6"/>
                </a:solidFill>
                <a:latin typeface="Menlo"/>
              </a:rPr>
              <a:t>вечер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E9E4D6"/>
                </a:solidFill>
                <a:latin typeface="Helvetica Neue"/>
              </a:rPr>
              <a:t>Логи каждой сессии приложения хранятся на устройстве, переживают краш, юзер отправляет их в саппорт кнопкой. Работали по SDD — сначала спека, потом код.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10881360" cy="2944368"/>
          </a:xfrm>
          <a:prstGeom prst="rect">
            <a:avLst/>
          </a:prstGeom>
          <a:solidFill>
            <a:srgbClr val="161F30"/>
          </a:solidFill>
          <a:ln w="9525">
            <a:solidFill>
              <a:srgbClr val="2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64592"/>
          <a:lstStyle/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18:05  спека: лимиты, ротация, pitfalls        brainstorming → docs/specs/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18:20  Codex ревьюит спеку                     параллельно пишется план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18:30  TDD: options → naming → encoder → core  тест первым, потом код</a:t>
            </a:r>
          </a:p>
          <a:p>
            <a:pPr algn="l"/>
            <a:r>
              <a:rPr sz="1300">
                <a:solidFill>
                  <a:srgbClr val="E8A33D"/>
                </a:solidFill>
                <a:latin typeface="Menlo"/>
              </a:rPr>
              <a:t>19:00  фидбек: «maxSessions не нужен,          спека правится дешевле кода</a:t>
            </a:r>
          </a:p>
          <a:p>
            <a:pPr algn="l"/>
            <a:r>
              <a:rPr sz="1300">
                <a:solidFill>
                  <a:srgbClr val="E8A33D"/>
                </a:solidFill>
                <a:latin typeface="Menlo"/>
              </a:rPr>
              <a:t>       выгрузку — добавить»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19:40  Codex: 2×P0, 8×P1                       коммит-хардеринг</a:t>
            </a:r>
          </a:p>
          <a:p>
            <a:pPr algn="l"/>
            <a:r>
              <a:rPr sz="1300">
                <a:solidFill>
                  <a:srgbClr val="E9E4D6"/>
                </a:solidFill>
                <a:latin typeface="Menlo"/>
              </a:rPr>
              <a:t>20:10  zip-экспорт, share_plus, доки           humanizer для текстов</a:t>
            </a:r>
          </a:p>
          <a:p>
            <a:pPr algn="l"/>
            <a:r>
              <a:rPr sz="1300">
                <a:solidFill>
                  <a:srgbClr val="97B877"/>
                </a:solidFill>
                <a:latin typeface="Menlo"/>
              </a:rPr>
              <a:t>20:30  два PR: team_logger + flutter_team_logger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{"seq":15,"lvl":</a:t>
            </a:r>
            <a:r>
              <a:rPr sz="1200">
                <a:solidFill>
                  <a:srgbClr val="97B877"/>
                </a:solidFill>
                <a:latin typeface="Menlo"/>
              </a:rPr>
              <a:t>"case"</a:t>
            </a:r>
            <a:r>
              <a:rPr sz="1200">
                <a:solidFill>
                  <a:srgbClr val="8B95A7"/>
                </a:solidFill>
                <a:latin typeface="Menlo"/>
              </a:rPr>
              <a:t>,"path":"case.decisions"}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tlog_20260723_workshop_p15.jsonl</a:t>
            </a:r>
            <a:r>
              <a:rPr sz="1000">
                <a:solidFill>
                  <a:srgbClr val="26324A"/>
                </a:solidFill>
                <a:latin typeface="Menlo"/>
              </a:rPr>
              <a:t>   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4D6"/>
                </a:solidFill>
                <a:latin typeface="Menlo"/>
              </a:rPr>
              <a:t>Что </a:t>
            </a:r>
            <a:r>
              <a:rPr sz="3400" b="1">
                <a:solidFill>
                  <a:srgbClr val="E9E4D6"/>
                </a:solidFill>
                <a:latin typeface="Menlo"/>
              </a:rPr>
              <a:t>решали </a:t>
            </a:r>
            <a:r>
              <a:rPr sz="3400" b="1">
                <a:solidFill>
                  <a:srgbClr val="E9E4D6"/>
                </a:solidFill>
                <a:latin typeface="Menlo"/>
              </a:rPr>
              <a:t>в </a:t>
            </a:r>
            <a:r>
              <a:rPr sz="3400" b="1">
                <a:solidFill>
                  <a:srgbClr val="E9E4D6"/>
                </a:solidFill>
                <a:latin typeface="Menlo"/>
              </a:rPr>
              <a:t>спеке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8B95A7"/>
                          </a:solidFill>
                          <a:latin typeface="Menlo"/>
                        </a:rPr>
                        <a:t>вопрос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8B95A7"/>
                          </a:solidFill>
                          <a:latin typeface="Helvetica Neue"/>
                        </a:rPr>
                        <a:t>решение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7FB4C9"/>
                          </a:solidFill>
                          <a:latin typeface="Menlo"/>
                        </a:rPr>
                        <a:t>сколько живут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9E4D6"/>
                          </a:solidFill>
                          <a:latin typeface="Helvetica Neue"/>
                        </a:rPr>
                        <a:t>7 дней + потолок каталога 20 MiB. Лимита на число сессий нет: возраст и вес ограничивают сами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7FB4C9"/>
                          </a:solidFill>
                          <a:latin typeface="Menlo"/>
                        </a:rPr>
                        <a:t>сессия растёт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9E4D6"/>
                          </a:solidFill>
                          <a:latin typeface="Helvetica Neue"/>
                        </a:rPr>
                        <a:t>чанки по 512 KiB; переполнилось — гибнет старейший чанк. Хвост важнее начала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7FB4C9"/>
                          </a:solidFill>
                          <a:latin typeface="Menlo"/>
                        </a:rPr>
                        <a:t>запись-гигант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9E4D6"/>
                          </a:solidFill>
                          <a:latin typeface="Helvetica Neue"/>
                        </a:rPr>
                        <a:t>32 KiB на запись; режем stack, потом data, сообщение — последним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7FB4C9"/>
                          </a:solidFill>
                          <a:latin typeface="Menlo"/>
                        </a:rPr>
                        <a:t>краш при записи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9E4D6"/>
                          </a:solidFill>
                          <a:latin typeface="Helvetica Neue"/>
                        </a:rPr>
                        <a:t>JSON Lines: страдает максимум последняя строка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7FB4C9"/>
                          </a:solidFill>
                          <a:latin typeface="Menlo"/>
                        </a:rPr>
                        <a:t>диск полон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9E4D6"/>
                          </a:solidFill>
                          <a:latin typeface="Helvetica Neue"/>
                        </a:rPr>
                        <a:t>5 неудач подряд — storage выключает себя; исключений в приложение нет</a:t>
                      </a:r>
                    </a:p>
                  </a:txBody>
                  <a:tcPr anchor="t" marL="109728" marR="109728" marT="64008" marB="64008">
                    <a:solidFill>
                      <a:srgbClr val="1016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7FB4C9"/>
                          </a:solidFill>
                          <a:latin typeface="Menlo"/>
                        </a:rPr>
                        <a:t>отправка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9E4D6"/>
                          </a:solidFill>
                          <a:latin typeface="Helvetica Neue"/>
                        </a:rPr>
                        <a:t>zip-снапшот, неизменяемый: безопасно аплоадить при живой записи</a:t>
                      </a:r>
                    </a:p>
                  </a:txBody>
                  <a:tcPr anchor="t" marL="109728" marR="109728" marT="64008" marB="64008"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{"seq":16,"lvl":</a:t>
            </a:r>
            <a:r>
              <a:rPr sz="1200">
                <a:solidFill>
                  <a:srgbClr val="7FB4C9"/>
                </a:solidFill>
                <a:latin typeface="Menlo"/>
              </a:rPr>
              <a:t>"info"</a:t>
            </a:r>
            <a:r>
              <a:rPr sz="1200">
                <a:solidFill>
                  <a:srgbClr val="8B95A7"/>
                </a:solidFill>
                <a:latin typeface="Menlo"/>
              </a:rPr>
              <a:t>,"path":"case.lessons"}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tlog_20260723_workshop_p16.jsonl</a:t>
            </a:r>
            <a:r>
              <a:rPr sz="1000">
                <a:solidFill>
                  <a:srgbClr val="26324A"/>
                </a:solidFill>
                <a:latin typeface="Menlo"/>
              </a:rPr>
              <a:t>   16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Что </a:t>
            </a:r>
            <a:r>
              <a:rPr sz="3600" b="1">
                <a:solidFill>
                  <a:srgbClr val="E9E4D6"/>
                </a:solidFill>
                <a:latin typeface="Menlo"/>
              </a:rPr>
              <a:t>из </a:t>
            </a:r>
            <a:r>
              <a:rPr sz="3600" b="1">
                <a:solidFill>
                  <a:srgbClr val="E9E4D6"/>
                </a:solidFill>
                <a:latin typeface="Menlo"/>
              </a:rPr>
              <a:t>этого </a:t>
            </a:r>
            <a:r>
              <a:rPr sz="3600" b="1">
                <a:solidFill>
                  <a:srgbClr val="E9E4D6"/>
                </a:solidFill>
                <a:latin typeface="Menlo"/>
              </a:rPr>
              <a:t>выношу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>
                <a:solidFill>
                  <a:srgbClr val="8B95A7"/>
                </a:solidFill>
                <a:latin typeface="Helvetica Neue"/>
              </a:rPr>
              <a:t>Спека на две страницы читается за пять минут — и правится за пять минут. Код правится за час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>
                <a:solidFill>
                  <a:srgbClr val="8B95A7"/>
                </a:solidFill>
                <a:latin typeface="Helvetica Neue"/>
              </a:rPr>
              <a:t>Человек и вторая модель ловят разное: человек — «зачем этот лимит», Codex — гонку над дескриптором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>
                <a:solidFill>
                  <a:srgbClr val="8B95A7"/>
                </a:solidFill>
                <a:latin typeface="Helvetica Neue"/>
              </a:rPr>
              <a:t>Тест первым — не ритуал: красный тест дважды ловил мои ошибки до коммита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>
                <a:solidFill>
                  <a:srgbClr val="8B95A7"/>
                </a:solidFill>
                <a:latin typeface="Helvetica Neue"/>
              </a:rPr>
              <a:t>Атомарные коммиты дают дешёвый откат любого решения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>
                <a:solidFill>
                  <a:srgbClr val="8B95A7"/>
                </a:solidFill>
                <a:latin typeface="Helvetica Neue"/>
              </a:rPr>
              <a:t>Спека и план в git рядом с кодом: ревьюер видит не только «что», но и «почему»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{"seq":17,"lvl":</a:t>
            </a:r>
            <a:r>
              <a:rPr sz="1200">
                <a:solidFill>
                  <a:srgbClr val="97B877"/>
                </a:solidFill>
                <a:latin typeface="Menlo"/>
              </a:rPr>
              <a:t>"ok"</a:t>
            </a:r>
            <a:r>
              <a:rPr sz="1200">
                <a:solidFill>
                  <a:srgbClr val="8B95A7"/>
                </a:solidFill>
                <a:latin typeface="Menlo"/>
              </a:rPr>
              <a:t>,"path":"start"}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tlog_20260723_workshop_p17.jsonl</a:t>
            </a:r>
            <a:r>
              <a:rPr sz="1000">
                <a:solidFill>
                  <a:srgbClr val="26324A"/>
                </a:solidFill>
                <a:latin typeface="Menlo"/>
              </a:rPr>
              <a:t>   17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9E4D6"/>
                </a:solidFill>
                <a:latin typeface="Menlo"/>
              </a:rPr>
              <a:t>С </a:t>
            </a:r>
            <a:r>
              <a:rPr sz="3600" b="1">
                <a:solidFill>
                  <a:srgbClr val="E9E4D6"/>
                </a:solidFill>
                <a:latin typeface="Menlo"/>
              </a:rPr>
              <a:t>чего </a:t>
            </a:r>
            <a:r>
              <a:rPr sz="3600" b="1">
                <a:solidFill>
                  <a:srgbClr val="E9E4D6"/>
                </a:solidFill>
                <a:latin typeface="Menlo"/>
              </a:rPr>
              <a:t>начать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1. CLAUDE.md в репозитории. </a:t>
            </a:r>
            <a:r>
              <a:rPr sz="1800">
                <a:solidFill>
                  <a:srgbClr val="8B95A7"/>
                </a:solidFill>
                <a:latin typeface="Helvetica Neue"/>
              </a:rPr>
              <a:t>Toolchain, команды, правила. Час работы, окупается в первый день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2. Один скилл </a:t>
            </a:r>
            <a:r>
              <a:rPr sz="1800">
                <a:solidFill>
                  <a:srgbClr val="8B95A7"/>
                </a:solidFill>
                <a:latin typeface="Helvetica Neue"/>
              </a:rPr>
              <a:t>на самую частую рутину: создание MR или запуск на симуляторе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3. WORKLOG.md. </a:t>
            </a:r>
            <a:r>
              <a:rPr sz="1800">
                <a:solidFill>
                  <a:srgbClr val="8B95A7"/>
                </a:solidFill>
                <a:latin typeface="Helvetica Neue"/>
              </a:rPr>
              <a:t>Пять строк в конце сессии, чтобы завтра не начинать с нуля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8A33D"/>
                </a:solidFill>
                <a:latin typeface="Menlo"/>
              </a:rPr>
              <a:t>&gt; </a:t>
            </a:r>
            <a:r>
              <a:rPr sz="1800" b="1">
                <a:solidFill>
                  <a:srgbClr val="E9E4D6"/>
                </a:solidFill>
                <a:latin typeface="Helvetica Neue"/>
              </a:rPr>
              <a:t>4. Ревью второй моделью </a:t>
            </a:r>
            <a:r>
              <a:rPr sz="1800">
                <a:solidFill>
                  <a:srgbClr val="8B95A7"/>
                </a:solidFill>
                <a:latin typeface="Helvetica Neue"/>
              </a:rPr>
              <a:t>для крупных фич — когда первые три пункта приживутся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>
                <a:solidFill>
                  <a:srgbClr val="E9E4D6"/>
                </a:solidFill>
                <a:latin typeface="Helvetica Neue"/>
              </a:rPr>
              <a:t>Не пытайтесь завести всё сразу. Каждый инструмент появлялся после конкретной боли, а не из каталога.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B95A7"/>
                </a:solidFill>
                <a:latin typeface="Menlo"/>
              </a:rPr>
              <a:t>{"seq":18,"lvl":</a:t>
            </a:r>
            <a:r>
              <a:rPr sz="1200">
                <a:solidFill>
                  <a:srgbClr val="97B877"/>
                </a:solidFill>
                <a:latin typeface="Menlo"/>
              </a:rPr>
              <a:t>"session_end"</a:t>
            </a:r>
            <a:r>
              <a:rPr sz="1200">
                <a:solidFill>
                  <a:srgbClr val="8B95A7"/>
                </a:solidFill>
                <a:latin typeface="Menlo"/>
              </a:rPr>
              <a:t>,"path":"workshop.qa"}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B95A7"/>
                </a:solidFill>
                <a:latin typeface="Menlo"/>
              </a:rPr>
              <a:t>tlog_20260723_workshop_p18.jsonl</a:t>
            </a:r>
            <a:r>
              <a:rPr sz="1000">
                <a:solidFill>
                  <a:srgbClr val="26324A"/>
                </a:solidFill>
                <a:latin typeface="Menlo"/>
              </a:rPr>
              <a:t>   18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9E4D6"/>
                </a:solidFill>
                <a:latin typeface="Menlo"/>
              </a:rPr>
              <a:t>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ядро: </a:t>
            </a:r>
            <a:r>
              <a:rPr sz="1700">
                <a:solidFill>
                  <a:srgbClr val="8B95A7"/>
                </a:solidFill>
                <a:latin typeface="Helvetica Neue"/>
              </a:rPr>
              <a:t>github.com/Ruslan660/team_logger — PR #1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Flutter-обвязка и спека: </a:t>
            </a:r>
            <a:r>
              <a:rPr sz="1700">
                <a:solidFill>
                  <a:srgbClr val="8B95A7"/>
                </a:solidFill>
                <a:latin typeface="Helvetica Neue"/>
              </a:rPr>
              <a:t>github.com/Ruslan660/flutter_team_logger — PR #1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8A33D"/>
                </a:solidFill>
                <a:latin typeface="Menlo"/>
              </a:rPr>
              <a:t>&gt; </a:t>
            </a:r>
            <a:r>
              <a:rPr sz="1700" b="1">
                <a:solidFill>
                  <a:srgbClr val="E9E4D6"/>
                </a:solidFill>
                <a:latin typeface="Helvetica Neue"/>
              </a:rPr>
              <a:t>спека и план: </a:t>
            </a:r>
            <a:r>
              <a:rPr sz="1700">
                <a:solidFill>
                  <a:srgbClr val="8B95A7"/>
                </a:solidFill>
                <a:latin typeface="Helvetica Neue"/>
              </a:rPr>
              <a:t>docs/specs/ и docs/plans/ в репозитории воркшопа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